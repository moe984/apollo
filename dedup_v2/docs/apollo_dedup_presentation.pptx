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195" d="100"/>
          <a:sy n="195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Apollo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589FF"/>
                </a:solidFill>
              </a:defRPr>
            </a:pPr>
            <a:r>
              <a:t>Deduplication  ·  Named Entity Recognition  ·  Fingerprinting  ·  Detection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200" b="0">
                <a:solidFill>
                  <a:srgbClr val="8D8D8D"/>
                </a:solidFill>
              </a:defRPr>
            </a:pPr>
            <a:r>
              <a:t>Per-slot hashing and an inverted index  |  fuzzy cross-rule matching</a:t>
            </a:r>
          </a:p>
          <a:p>
            <a:pPr algn="l">
              <a:lnSpc>
                <a:spcPct val="135000"/>
              </a:lnSpc>
              <a:defRPr sz="1200" b="0">
                <a:solidFill>
                  <a:srgbClr val="8D8D8D"/>
                </a:solidFill>
              </a:defRPr>
            </a:pPr>
            <a:r>
              <a:t>A fine-tuned SecureBERT2.0 entity extractor  |  STIX 2.1 cross-validation</a:t>
            </a:r>
          </a:p>
          <a:p>
            <a:pPr algn="l">
              <a:lnSpc>
                <a:spcPct val="135000"/>
              </a:lnSpc>
              <a:defRPr sz="1200" b="0">
                <a:solidFill>
                  <a:srgbClr val="8D8D8D"/>
                </a:solidFill>
              </a:defRPr>
            </a:pPr>
            <a:r>
              <a:t>Explainable verdicts, frozen results, and a full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Cosmos Platform Engineering  |  STIX 2.1  |  CIP SP-015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61616"/>
                </a:solidFill>
              </a:defRPr>
            </a:pPr>
            <a:r>
              <a:t>Confidential</a:t>
            </a:r>
          </a:p>
        </p:txBody>
      </p:sp>
      <p:pic>
        <p:nvPicPr>
          <p:cNvPr id="8" name="Picture 7" descr="tekstre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88" y="4905756"/>
            <a:ext cx="1225268" cy="2011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Four capabilities that share one input — the alert — and one goal: fewer, better-explained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965960" cy="2240280"/>
          </a:xfrm>
          <a:prstGeom prst="rect">
            <a:avLst/>
          </a:prstGeom>
          <a:solidFill>
            <a:srgbClr val="262626"/>
          </a:solidFill>
          <a:ln w="2222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01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A4D56"/>
                </a:solidFill>
              </a:defRPr>
            </a:pPr>
            <a:r>
              <a:t>Deduplication</a:t>
            </a:r>
          </a:p>
          <a:p>
            <a:pPr algn="ctr">
              <a:spcBef>
                <a:spcPts val="1000"/>
              </a:spcBef>
              <a:defRPr sz="1000">
                <a:solidFill>
                  <a:srgbClr val="F4F4F4"/>
                </a:solidFill>
              </a:defRPr>
            </a:pPr>
            <a:r>
              <a:t>Two-layer engine in</a:t>
            </a:r>
            <a:br/>
            <a:r>
              <a:t>ml-service. Decides</a:t>
            </a:r>
            <a:br/>
            <a:r>
              <a:t>DUPLICATE / SIMILAR / NEW</a:t>
            </a:r>
            <a:br/>
            <a:r>
              <a:t>before an analyst sees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32888" y="1234440"/>
            <a:ext cx="1965960" cy="2240280"/>
          </a:xfrm>
          <a:prstGeom prst="rect">
            <a:avLst/>
          </a:prstGeom>
          <a:solidFill>
            <a:srgbClr val="262626"/>
          </a:solidFill>
          <a:ln w="2222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02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BE95FF"/>
                </a:solidFill>
              </a:defRPr>
            </a:pPr>
            <a:r>
              <a:t>Entity Extraction</a:t>
            </a:r>
          </a:p>
          <a:p>
            <a:pPr algn="ctr">
              <a:spcBef>
                <a:spcPts val="1000"/>
              </a:spcBef>
              <a:defRPr sz="1000">
                <a:solidFill>
                  <a:srgbClr val="F4F4F4"/>
                </a:solidFill>
              </a:defRPr>
            </a:pPr>
            <a:r>
              <a:t>A fine-tuned transformer</a:t>
            </a:r>
            <a:br/>
            <a:r>
              <a:t>reads the alert payload</a:t>
            </a:r>
            <a:br/>
            <a:r>
              <a:t>and returns typed values</a:t>
            </a:r>
            <a:br/>
            <a:r>
              <a:t>with no field-name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4296" y="1234440"/>
            <a:ext cx="1965960" cy="2240280"/>
          </a:xfrm>
          <a:prstGeom prst="rect">
            <a:avLst/>
          </a:prstGeom>
          <a:solidFill>
            <a:srgbClr val="262626"/>
          </a:solidFill>
          <a:ln w="2222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03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1C21B"/>
                </a:solidFill>
              </a:defRPr>
            </a:pPr>
            <a:r>
              <a:t>Fingerprinting</a:t>
            </a:r>
          </a:p>
          <a:p>
            <a:pPr algn="ctr">
              <a:spcBef>
                <a:spcPts val="1000"/>
              </a:spcBef>
              <a:defRPr sz="1000">
                <a:solidFill>
                  <a:srgbClr val="F4F4F4"/>
                </a:solidFill>
              </a:defRPr>
            </a:pPr>
            <a:r>
              <a:t>Three independent hashes:</a:t>
            </a:r>
            <a:br/>
            <a:r>
              <a:t>IOC slots, extracted</a:t>
            </a:r>
            <a:br/>
            <a:r>
              <a:t>entities, and disposition</a:t>
            </a:r>
            <a:br/>
            <a:r>
              <a:t>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75703" y="1234440"/>
            <a:ext cx="1965960" cy="2240280"/>
          </a:xfrm>
          <a:prstGeom prst="rect">
            <a:avLst/>
          </a:prstGeom>
          <a:solidFill>
            <a:srgbClr val="262626"/>
          </a:solidFill>
          <a:ln w="2222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04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33B1FF"/>
                </a:solidFill>
              </a:defRPr>
            </a:pPr>
            <a:r>
              <a:t>Detection Analytics</a:t>
            </a:r>
          </a:p>
          <a:p>
            <a:pPr algn="ctr">
              <a:spcBef>
                <a:spcPts val="1000"/>
              </a:spcBef>
              <a:defRPr sz="1000">
                <a:solidFill>
                  <a:srgbClr val="F4F4F4"/>
                </a:solidFill>
              </a:defRPr>
            </a:pPr>
            <a:r>
              <a:t>What is firing, for whom,</a:t>
            </a:r>
            <a:br/>
            <a:r>
              <a:t>what it covers in ATT&amp;CK,</a:t>
            </a:r>
            <a:br/>
            <a:r>
              <a:t>and how dedup is actually</a:t>
            </a:r>
            <a:br/>
            <a:r>
              <a:t>performing.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C6C6C6"/>
                </a:solidFill>
              </a:defRPr>
            </a:pPr>
            <a:r>
              <a:t>The through-line: every number in this deck is produced by code that runs in production today, and every</a:t>
            </a:r>
          </a:p>
          <a:p>
            <a:pPr algn="l">
              <a:lnSpc>
                <a:spcPct val="130000"/>
              </a:lnSpc>
              <a:defRPr sz="1200" b="0">
                <a:solidFill>
                  <a:srgbClr val="C6C6C6"/>
                </a:solidFill>
              </a:defRPr>
            </a:pPr>
            <a:r>
              <a:t>verdict it produces can be traced back to the exact values that produced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Where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Apollo (TypeScript / Fastify) calls the engines; the engines live in the Cosmos ml-service (Python / FastAPI)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463040" cy="91440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08BDBA"/>
                </a:solidFill>
              </a:defRPr>
            </a:pPr>
            <a:r>
              <a:t>Splunk SOAR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Containers</a:t>
            </a:r>
            <a:br/>
            <a:r>
              <a:t>+ CEF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1234440"/>
            <a:ext cx="1920240" cy="914400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4589FF"/>
                </a:solidFill>
              </a:defRPr>
            </a:pPr>
            <a:r>
              <a:t>Apollo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Ingest → STIX 2.1</a:t>
            </a:r>
            <a:br/>
            <a:r>
              <a:t>Postgres + 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234440"/>
            <a:ext cx="1737360" cy="914400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42BE65"/>
                </a:solidFill>
              </a:defRPr>
            </a:pPr>
            <a:r>
              <a:t>CIP Gateway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/api/dedup/*</a:t>
            </a:r>
            <a:br/>
            <a:r>
              <a:t>/api/ner/*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234440"/>
            <a:ext cx="2148840" cy="914400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BE95FF"/>
                </a:solidFill>
              </a:defRPr>
            </a:pPr>
            <a:r>
              <a:t>ml-service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Dedup engine + NER engine</a:t>
            </a:r>
            <a:br/>
            <a:r>
              <a:t>Redis (tenant-namespaced)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691640"/>
            <a:ext cx="32004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1691640"/>
            <a:ext cx="32004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17920" y="1691640"/>
            <a:ext cx="32004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423160"/>
            <a:ext cx="4023360" cy="123444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Why the gateway is in the path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Apollo and ml-service sit in separate VPCs.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Spoke → hub → service is what CIP Invariant 5 asks for;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direct call over a peered link is the shape it discourages.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Auth: X-API-Key / CIP_SPOKE_SECRET, enforced at the gateway.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423160"/>
            <a:ext cx="4023360" cy="123444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Two calls, two very different contracts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   SYNCHRONOUS, on the hot path. 3s budget, 0 retries.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Failure = fail open; the alert is processed as NEW.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NER     DETACHED. 45s budget, queued at concurrency 1.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Failure = the alert simply has no entity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8D8D"/>
                </a:solidFill>
              </a:defRPr>
            </a:pPr>
            <a:r>
              <a:t>Each has its own circuit breaker, registered under its own name, so a degraded NER engine can never open dedup's circuit.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Alert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One ingest, two independent engines, one analyst-facing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10515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08BDBA"/>
                </a:solidFill>
              </a:defRPr>
            </a:pPr>
            <a:r>
              <a:t>SOAR push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234440"/>
            <a:ext cx="10515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33B1FF"/>
                </a:solidFill>
              </a:defRPr>
            </a:pPr>
            <a:r>
              <a:t>Normalize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STIX 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234440"/>
            <a:ext cx="10515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33B1FF"/>
                </a:solidFill>
              </a:defRPr>
            </a:pPr>
            <a:r>
              <a:t>Persist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alerts 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234440"/>
            <a:ext cx="123444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FA4D56"/>
                </a:solidFill>
              </a:defRPr>
            </a:pPr>
            <a:r>
              <a:t>Dedup engine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synchronous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234440"/>
            <a:ext cx="123444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FA4D56"/>
                </a:solidFill>
              </a:defRPr>
            </a:pPr>
            <a:r>
              <a:t>Verdict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DUP / SIM / NEW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234440"/>
            <a:ext cx="182880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42BE65"/>
                </a:solidFill>
              </a:defRPr>
            </a:pPr>
            <a:r>
              <a:t>Link + suppress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canonical cluster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151790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06040" y="151790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151790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" y="151790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151790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3360" y="2240280"/>
            <a:ext cx="123444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BE95FF"/>
                </a:solidFill>
              </a:defRPr>
            </a:pPr>
            <a:r>
              <a:t>NER queue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detached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240280"/>
            <a:ext cx="123444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BE95FF"/>
                </a:solidFill>
              </a:defRPr>
            </a:pPr>
            <a:r>
              <a:t>Extract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typed entities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240280"/>
            <a:ext cx="182880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F1C21B"/>
                </a:solidFill>
              </a:defRPr>
            </a:pPr>
            <a:r>
              <a:t>Snapshot + fingerprint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frozen at write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10128" y="1801368"/>
            <a:ext cx="0" cy="722376"/>
          </a:xfrm>
          <a:prstGeom prst="bentConnector3">
            <a:avLst/>
          </a:prstGeom>
          <a:ln w="15875">
            <a:solidFill>
              <a:srgbClr val="BE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10128" y="2523744"/>
            <a:ext cx="713232" cy="0"/>
          </a:xfrm>
          <a:prstGeom prst="bentConnector3">
            <a:avLst/>
          </a:prstGeom>
          <a:ln w="15875">
            <a:solidFill>
              <a:srgbClr val="BE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252374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75120" y="2523744"/>
            <a:ext cx="182880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0040" y="3246120"/>
            <a:ext cx="17373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8D8D8D"/>
                </a:solidFill>
              </a:defRPr>
            </a:pPr>
            <a:r>
              <a:t>Audit events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request · verdict · failed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246120"/>
            <a:ext cx="17373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42BE65"/>
                </a:solidFill>
              </a:defRPr>
            </a:pPr>
            <a:r>
              <a:t>CIP event bus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alert.deduplicated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246120"/>
            <a:ext cx="173736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4589FF"/>
                </a:solidFill>
              </a:defRPr>
            </a:pPr>
            <a:r>
              <a:t>Overwatch metrics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latency · verdict · slots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246120"/>
            <a:ext cx="2606040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900" b="1">
                <a:solidFill>
                  <a:srgbClr val="33B1FF"/>
                </a:solidFill>
              </a:defRPr>
            </a:pPr>
            <a:r>
              <a:t>Dashboard &amp; SOAR verdict API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analytics · auto-close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Dedup and extraction do not depend on each other and neither blocks the alert. Dedup is awaited because its verdict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decides what happens to the alert; extraction is enrichment, so it is submitted to a queue and written when it lands.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4D56"/>
                </a:solidFill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The problem  ·  Parsing, normalization and fingerprinting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Layer 1 (hash)  ·  Layer 2 (fuzzy)  ·  Cross-validation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Canonical clusters  ·  Policy  ·  Failure behaviour  ·  The SOAR verdict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The same alert arrives repeatedly — SOAR polling cycles, replays, re-pushes of one container.</a:t>
            </a:r>
          </a:p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Different detection rules fire on the same IOCs. Rule-scoped dedup cannot see that at all.</a:t>
            </a:r>
          </a:p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Composite confidence formulas with tuned weights answer "why was this suppressed?" with a number nobody can defend.</a:t>
            </a:r>
          </a:p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Without a per-slot answer there is no way to say WHICH indicators matched and which did not.</a:t>
            </a:r>
          </a:p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Duplicates chained to other duplicates, so a cluster's origin was whichever alert the engine happened to compare against.</a:t>
            </a:r>
          </a:p>
          <a:p>
            <a:pPr>
              <a:spcAft>
                <a:spcPts val="1100"/>
              </a:spcAft>
              <a:defRPr sz="1200">
                <a:solidFill>
                  <a:srgbClr val="F4F4F4"/>
                </a:solidFill>
              </a:defRPr>
            </a:pPr>
            <a:r>
              <a:t>A suppression that cannot be explained is a suppression an analyst will not trust — and will stop using.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What the engine has to deliver</a:t>
            </a:r>
          </a:p>
          <a:p>
            <a:pPr>
              <a:spcBef>
                <a:spcPts val="300"/>
              </a:spcBef>
              <a:defRPr sz="1200">
                <a:solidFill>
                  <a:srgbClr val="F4F4F4"/>
                </a:solidFill>
              </a:defRPr>
            </a:pPr>
            <a:r>
              <a:t>A verdict that is arithmetic, not a formula: matched slots over filled slots, with both lists on the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The Dedup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engine.py — six stages, each of which can be inspected on its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1</a:t>
            </a:r>
          </a:p>
          <a:p>
            <a:pPr algn="ctr">
              <a:defRPr sz="1200" b="1">
                <a:solidFill>
                  <a:srgbClr val="08BDBA"/>
                </a:solidFill>
              </a:defRPr>
            </a:pPr>
            <a:r>
              <a:t>Parse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STIX 2.1 bundle →</a:t>
            </a:r>
            <a:br/>
            <a:r>
              <a:t>flat alert dict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64207" y="2084831"/>
            <a:ext cx="128017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792224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2</a:t>
            </a:r>
          </a:p>
          <a:p>
            <a:pPr algn="ctr">
              <a:defRPr sz="1200" b="1">
                <a:solidFill>
                  <a:srgbClr val="33B1FF"/>
                </a:solidFill>
              </a:defRPr>
            </a:pPr>
            <a:r>
              <a:t>Extract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Pull IOC lists by</a:t>
            </a:r>
            <a:br/>
            <a:r>
              <a:t>field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2084831"/>
            <a:ext cx="128016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18688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3</a:t>
            </a:r>
          </a:p>
          <a:p>
            <a:pPr algn="ctr">
              <a:defRPr sz="1200" b="1">
                <a:solidFill>
                  <a:srgbClr val="33B1FF"/>
                </a:solidFill>
              </a:defRPr>
            </a:pPr>
            <a:r>
              <a:t>Normalize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Canonical form</a:t>
            </a:r>
            <a:br/>
            <a:r>
              <a:t>per IOC type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17136" y="2084831"/>
            <a:ext cx="128016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45152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4</a:t>
            </a:r>
          </a:p>
          <a:p>
            <a:pPr algn="ctr">
              <a:defRPr sz="1200" b="1">
                <a:solidFill>
                  <a:srgbClr val="F1C21B"/>
                </a:solidFill>
              </a:defRPr>
            </a:pPr>
            <a:r>
              <a:t>Fingerprint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SHA-256 per slot</a:t>
            </a:r>
            <a:br/>
            <a:r>
              <a:t>+ time bucket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084831"/>
            <a:ext cx="128016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71616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5</a:t>
            </a:r>
          </a:p>
          <a:p>
            <a:pPr algn="ctr">
              <a:defRPr sz="1200" b="1">
                <a:solidFill>
                  <a:srgbClr val="FA4D56"/>
                </a:solidFill>
              </a:defRPr>
            </a:pPr>
            <a:r>
              <a:t>Layer 1 / 2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Hash match, then</a:t>
            </a:r>
            <a:br/>
            <a:r>
              <a:t>fuzzy match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70064" y="2084831"/>
            <a:ext cx="128016" cy="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98080" y="1280160"/>
            <a:ext cx="1298448" cy="1600200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D8D8D"/>
                </a:solidFill>
              </a:defRPr>
            </a:pPr>
            <a:r>
              <a:t>6</a:t>
            </a:r>
          </a:p>
          <a:p>
            <a:pPr algn="ctr">
              <a:defRPr sz="1200" b="1">
                <a:solidFill>
                  <a:srgbClr val="BE95FF"/>
                </a:solidFill>
              </a:defRPr>
            </a:pPr>
            <a:r>
              <a:t>Validate</a:t>
            </a:r>
          </a:p>
          <a:p>
            <a:pPr algn="ctr">
              <a:spcBef>
                <a:spcPts val="600"/>
              </a:spcBef>
              <a:defRPr sz="900">
                <a:solidFill>
                  <a:srgbClr val="F4F4F4"/>
                </a:solidFill>
              </a:defRPr>
            </a:pPr>
            <a:r>
              <a:t>STIX equivalence</a:t>
            </a:r>
            <a:br/>
            <a:r>
              <a:t>cross-check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8D8D8D"/>
                </a:solidFill>
              </a:defRPr>
            </a:pPr>
            <a:r>
              <a:t>Every stage fails independently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stage that raises returns a NEW verdict carrying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{ error, stage } in score_breakdown, rather than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exception. An engine that cannot parse a bundle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must not stop the alert from being processed.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06324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Zero IOCs is a data-quality answer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alert from which no IOC could be extracted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returned as NEW with a data_quality_warning, stored,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and indexed. It is never silently matched: there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nothing to match 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Stage 1 — Parsing the STIX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stix_parser.py — two bundle shapes, because two kinds of vendor send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Rich bundles: standalone SCOs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ipv4-addr / ipv6-addr   → ip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domain-name             → domain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url                     → url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file.hashes             → file_hash (SHA-256, SHA-1, MD5)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user-account            → user (user_id and account_login)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  <a:latin typeface="Consolas"/>
              </a:defRPr>
            </a:pPr>
            <a:r>
              <a:t>indicator.name          → alert_name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234440"/>
            <a:ext cx="4023360" cy="1691640"/>
          </a:xfrm>
          <a:prstGeom prst="rect">
            <a:avLst/>
          </a:prstGeom>
          <a:solidFill>
            <a:srgbClr val="262626"/>
          </a:solidFill>
          <a:ln w="15875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F7EB6"/>
                </a:solidFill>
              </a:defRPr>
            </a:pPr>
            <a:r>
              <a:t>Minimal bundles: identity + indicator only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Splunk sends the IOCs inside the vendor extension,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at extensions[&lt;key&gt;].vendor_specific.notable_fields.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parser walks a configured field map: 11 aliases for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ip, 9 for user, 5 for email, 6 for domain, 2 each for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url and file_hash — all in dedup_defaults.yaml.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Why both paths matter — the observable gap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parser that reads only standalone SCOs sees nothing on a Splunk bundle, so the hash confidence and the observable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cross-check were computed over different data and the observable score read higher than it should have. Both sources are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parsed FIRST, and every downstream score compares the parsed values — so the cross-check has no blind spot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fingerprint does not also have. Notable values are also validated on the way in: an "ip" that is not an IPv4 literal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dropped, an "email" without an @ is dropped, and an IP that arrived in a domain field is not counted as a domain.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DEDUPLICATION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2/3 — Extraction and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ioc_normalizer.py — normalization decides what "the same indicator" means, so it happens before anything is hashed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IOC type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Normalization applied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 in → out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ip (v4)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Strip CIDR suffix, re-render each octet as an int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203.000.113.045/32 → 203.0.113.45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ip (v6)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Expand ::, zero-pad every group to 4, map ::ffff: v4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::ffff:10.0.0.1 → 0000:...:0a00:0001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Trim, lowercase, drop the trailing root dot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MAIL.Acme.com. → mail.acme.com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Lowercase scheme + host, drop default ports, drop fragment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HTTPS://A.com:443/x#f → https://a.com/x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Trim + lowercase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JDoe@Acme.com → jdoe@acme.com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Trim + lowercase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  JDoe → jdoe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file_hash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Trim + lowercase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E3B0C442... → e3b0c442...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Stage 4 — Fingerprinting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fingerprinter.py — one SHA-256 per slot. Never one hash over a concatenated blob.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for ioc_type in layer1_slots:                       # ip, user, email, domain, url, file_hash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values = iocs.get(ioc_type)                     # a SET of normalized values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if not values: continue                         # an empty slot is omitted, never hashed empty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sorted_values = ",".join(sorted(values))         # order in the alert must not change the hash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ioc_hashes[ioc_type] = sha256(f"{ioc_type}:{sorted_values}").hexdigest()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06040"/>
            <a:ext cx="2606040" cy="192024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Why per slot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blob hash can only say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"matched" or "did not".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Per-slot hashing is what lets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response name WHICH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indicators matched — which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the whole explainability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606040"/>
            <a:ext cx="2606040" cy="192024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Why the type is inside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slot name is part of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hashed string.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Without it the same address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in a source field and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destination field produces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one hash, and no later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matcher can tell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606040"/>
            <a:ext cx="2606040" cy="1920240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Why sorted, why a set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Values are de-duplicated and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sorted before joining.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Two alerts carrying the same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three IPs in different order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are the same alert, and must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produce byte-identical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input to the digest.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Eight Layer-1 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Six IOC slots that are SCORED, and two prerequisite slots that are a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ip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203.0.113.45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123444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user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jdoe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3444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email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jdoe@acme.com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domain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mail.acme.com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219456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url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portal.acme.com/login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94560"/>
            <a:ext cx="1874519" cy="82296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  <a:latin typeface="Consolas"/>
              </a:defRPr>
            </a:pPr>
            <a:r>
              <a:t>file_hash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e3b0c44298fc...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234440"/>
            <a:ext cx="2057400" cy="178308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Prerequisites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alert_name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time_bucket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Hashed the same way,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excluded from the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A gate, not a score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two prerequisites filter CANDIDATES before any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comparison happens. They never contribute to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confidence, because "same rule, same window" is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precondition for asking the question, not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One vocabulary per job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These are the DEDUP slots. The FP/BP disposition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engine has its own sixteen (src_ip, dest_ip, host,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process, technique_id, ...). What is shared between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them is the per-slot SHA-256 technique, never the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Time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How "recent enough to be the same alert" is turned into something hashable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now_ms    = int(time.time() * 1000)              # INGESTION time, not the vendor's timestamp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window_ms = window_minutes * 60 * 1000           # 2880 min = 48 hours (global policy)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bucket    = now_ms // window_ms                  # integer division — a fixed calendar of windows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prerequisites['time_bucket'] = sha256(f'time_bucket:{bucket}').hexdigest()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316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Fixed windows, not a sliding one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Two alerts match only if they land in the SAME window.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That makes the check one set lookup instead of a range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scan, at the cost of a boundary: two alerts four minutes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apart across a window edge are in different buckets.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42316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Paired with the Redis TTL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redis.ttl_minutes is set to the same 2880. The window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says what can match; the TTL says how long the record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exists to be matched against. They are kept in step in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one config file — drift between them is silent.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8D8D"/>
                </a:solidFill>
              </a:defRPr>
            </a:pPr>
            <a:r>
              <a:t>The bucket number, window length and both window edges are returned as ISO timestamps, so a verdict can always be re-derived.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Layer 1 — Hash Dedup (Same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Two stages: gate on the prerequisites, then score on the IOC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4F4F4"/>
                </a:solidFill>
              </a:defRPr>
            </a:pPr>
            <a:r>
              <a:t>Stage 1 — SINTER over the prerequisite index gives every alert in this rule and this window.</a:t>
            </a:r>
          </a:p>
          <a:p>
            <a:pPr>
              <a:spcAft>
                <a:spcPts val="1000"/>
              </a:spcAft>
              <a:defRPr sz="1200">
                <a:solidFill>
                  <a:srgbClr val="F4F4F4"/>
                </a:solidFill>
              </a:defRPr>
            </a:pPr>
            <a:r>
              <a:t>Stage 2 — count how many IOC slot sets the candidate appears in; that count IS the confidence.</a:t>
            </a:r>
          </a:p>
          <a:p>
            <a:pPr>
              <a:spcAft>
                <a:spcPts val="1000"/>
              </a:spcAft>
              <a:defRPr sz="1200">
                <a:solidFill>
                  <a:srgbClr val="F4F4F4"/>
                </a:solidFill>
              </a:defRPr>
            </a:pPr>
            <a:r>
              <a:t>Only candidates at or above the threshold are fetched and compared in full.</a:t>
            </a:r>
          </a:p>
          <a:p>
            <a:pPr>
              <a:spcAft>
                <a:spcPts val="1000"/>
              </a:spcAft>
              <a:defRPr sz="1200">
                <a:solidFill>
                  <a:srgbClr val="F4F4F4"/>
                </a:solidFill>
              </a:defRPr>
            </a:pPr>
            <a:r>
              <a:t>Threshold: 0.80 by default, per customer from PolicyForge.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234440"/>
            <a:ext cx="3886200" cy="91440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100">
                <a:solidFill>
                  <a:srgbClr val="42BE65"/>
                </a:solidFill>
                <a:latin typeface="Consolas"/>
              </a:defRPr>
            </a:pPr>
            <a:r>
              <a:t>confidence =</a:t>
            </a:r>
          </a:p>
          <a:p>
            <a:pPr>
              <a:defRPr sz="1100">
                <a:solidFill>
                  <a:srgbClr val="42BE65"/>
                </a:solidFill>
                <a:latin typeface="Consolas"/>
              </a:defRPr>
            </a:pPr>
            <a:r>
              <a:t>   matched_ioc_slots</a:t>
            </a:r>
          </a:p>
          <a:p>
            <a:pPr>
              <a:defRPr sz="1100">
                <a:solidFill>
                  <a:srgbClr val="42BE65"/>
                </a:solidFill>
                <a:latin typeface="Consolas"/>
              </a:defRPr>
            </a:pPr>
            <a:r>
              <a:t>   ------------------</a:t>
            </a:r>
          </a:p>
          <a:p>
            <a:pPr>
              <a:defRPr sz="1100">
                <a:solidFill>
                  <a:srgbClr val="42BE65"/>
                </a:solidFill>
                <a:latin typeface="Consolas"/>
              </a:defRPr>
            </a:pPr>
            <a:r>
              <a:t>   total_filled_slots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2286000"/>
            <a:ext cx="3886200" cy="123444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"Total" counts both sides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Slots the incoming alert filled, PLUS slots only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stored alert filled. An alert that carries fewer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indicators than its candidate cannot reach 100% by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carrying less — the missing slot counts as a miss.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4206240" cy="105156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Ties are broken, not left to Redis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Equal confidence → earliest (timestamp, alert_id) wins.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Candidates arrive from an unordered set, so without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id as a second key the same three alerts could cluster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differently on a replay.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65760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The response carries filled_slots, matched_slots and missed_slots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verbatim. The confidence is reproducible from those three lists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with no knowledge of the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Inverted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same pattern as Elasticsearch or Lucene: index by value, look up by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069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F4F4F4"/>
                </a:solidFill>
              </a:defRPr>
            </a:pPr>
            <a:r>
              <a:t>Every hash — IOC slots and prerequisites alike — is a Redis SET keyed by slot_type:hash.</a:t>
            </a:r>
          </a:p>
          <a:p>
            <a:pPr>
              <a:spcAft>
                <a:spcPts val="800"/>
              </a:spcAft>
              <a:defRPr sz="1000">
                <a:solidFill>
                  <a:srgbClr val="F4F4F4"/>
                </a:solidFill>
              </a:defRPr>
            </a:pPr>
            <a:r>
              <a:t>Prerequisites are one SINTER: the alert_name set intersected with the time_bucket set.</a:t>
            </a:r>
          </a:p>
          <a:p>
            <a:pPr>
              <a:spcAft>
                <a:spcPts val="800"/>
              </a:spcAft>
              <a:defRPr sz="1000">
                <a:solidFill>
                  <a:srgbClr val="F4F4F4"/>
                </a:solidFill>
              </a:defRPr>
            </a:pPr>
            <a:r>
              <a:t>IOC slots are a pipelined SMEMBERS; the per-candidate hit count is the confidence numerator.</a:t>
            </a:r>
          </a:p>
          <a:p>
            <a:pPr>
              <a:spcAft>
                <a:spcPts val="800"/>
              </a:spcAft>
              <a:defRPr sz="1000">
                <a:solidFill>
                  <a:srgbClr val="F4F4F4"/>
                </a:solidFill>
              </a:defRPr>
            </a:pPr>
            <a:r>
              <a:t>No candidate scan, no per-candidate Jaccard, no brute force.</a:t>
            </a:r>
          </a:p>
          <a:p>
            <a:pPr>
              <a:spcAft>
                <a:spcPts val="800"/>
              </a:spcAft>
              <a:defRPr sz="1000">
                <a:solidFill>
                  <a:srgbClr val="F4F4F4"/>
                </a:solidFill>
              </a:defRPr>
            </a:pPr>
            <a:r>
              <a:t>Every key carries the window TTL, so the index prunes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234440"/>
            <a:ext cx="4114800" cy="20116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dedup:{customer}:l1:idx:ip:a1b2...      → {a1, a5}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dedup:{customer}:l1:idx:user:d4e5...    → {a1, a5}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dedup:{customer}:l1:idx:email:g7h8...   → {a1}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dedup:{customer}:l1:{alert_id}          → hashes + ts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dedup:{customer}:l1:bundle:{alert_id}   → STIX + IOCs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dedup:{customer}:result:{alert_id}      → the verdict</a:t>
            </a:r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900">
                <a:solidFill>
                  <a:srgbClr val="33B1FF"/>
                </a:solidFill>
                <a:latin typeface="Consolas"/>
              </a:defRPr>
            </a:pPr>
            <a:r>
              <a:t>a1 in 3/3 sets → 100%    a5 in 2/3 → 67%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The customer id is in the key, and that is the tenant boundary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Omitting it collapses every tenant into one empty namespace, where one customer's alert can suppress another's.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Apollo forwards the validated customer_id on every call, and a per-customer flush escapes the id before it reaches SCAN.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Layer 2 — Fuzzy Matching (Cross-Rule)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case Layer 1 is structurally unable to see: two different rules describing one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F4F4F4"/>
                </a:solidFill>
              </a:defRPr>
            </a:pPr>
            <a:r>
              <a:t>Runs only when Layer 1 returned NEW — the two never overlap.</a:t>
            </a:r>
          </a:p>
          <a:p>
            <a:pPr>
              <a:spcAft>
                <a:spcPts val="900"/>
              </a:spcAft>
              <a:defRPr sz="1100">
                <a:solidFill>
                  <a:srgbClr val="F4F4F4"/>
                </a:solidFill>
              </a:defRPr>
            </a:pPr>
            <a:r>
              <a:t>Candidates: the same time bucket, a DIFFERENT alert_name.</a:t>
            </a:r>
          </a:p>
          <a:p>
            <a:pPr>
              <a:spcAft>
                <a:spcPts val="900"/>
              </a:spcAft>
              <a:defRPr sz="1100">
                <a:solidFill>
                  <a:srgbClr val="F4F4F4"/>
                </a:solidFill>
              </a:defRPr>
            </a:pPr>
            <a:r>
              <a:t>Token Sort Ratio (rapidfuzz) over the normalized IOC VALUES, not the hashes.</a:t>
            </a:r>
          </a:p>
          <a:p>
            <a:pPr>
              <a:spcAft>
                <a:spcPts val="900"/>
              </a:spcAft>
              <a:defRPr sz="1100">
                <a:solidFill>
                  <a:srgbClr val="F4F4F4"/>
                </a:solidFill>
              </a:defRPr>
            </a:pPr>
            <a:r>
              <a:t>Per type: each incoming value takes its best match among the stored values; the type score is the mean.</a:t>
            </a:r>
          </a:p>
          <a:p>
            <a:pPr>
              <a:spcAft>
                <a:spcPts val="900"/>
              </a:spcAft>
              <a:defRPr sz="1100">
                <a:solidFill>
                  <a:srgbClr val="F4F4F4"/>
                </a:solidFill>
              </a:defRPr>
            </a:pPr>
            <a:r>
              <a:t>Overall = mean across every type present in either alert. Threshold 80.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234440"/>
            <a:ext cx="3977639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8BDBA"/>
                </a:solidFill>
              </a:defRPr>
            </a:pPr>
            <a:r>
              <a:t>RULE A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Parent — Defender, High Severity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920240"/>
            <a:ext cx="3977639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B1FF"/>
                </a:solidFill>
              </a:defRPr>
            </a:pPr>
            <a:r>
              <a:t>RULE B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Incoming — Azure, Failed Logins Outside 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6974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21B"/>
                </a:solidFill>
              </a:defRPr>
            </a:pPr>
            <a:r>
              <a:t>Same user + same IP  →  SIMILAR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301752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D8D8D"/>
                </a:solidFill>
              </a:defRPr>
            </a:pPr>
            <a:r>
              <a:t>Two detections, one attack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A type present on one side only scores zero, not nothing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If the incoming alert carries a file_hash and the candidate does not, that type scores 0 and still counts in the mean.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Dropping it would let an alert raise its own score by carrying indicators the other side never had.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SIMILAR verdict groups; it does not suppress the way a DUPLICATE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Cross-Validation — Five Independent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Every match carries five numbers computed by different means, so no single signal decides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1572768" cy="2377440"/>
          </a:xfrm>
          <a:prstGeom prst="rect">
            <a:avLst/>
          </a:prstGeom>
          <a:solidFill>
            <a:srgbClr val="262626"/>
          </a:solidFill>
          <a:ln w="2222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589FF"/>
                </a:solidFill>
              </a:defRPr>
            </a:pPr>
            <a:r>
              <a:t>Hash</a:t>
            </a:r>
            <a:br/>
            <a:r>
              <a:t>Confidence</a:t>
            </a:r>
          </a:p>
          <a:p>
            <a:pPr algn="ctr">
              <a:spcBef>
                <a:spcPts val="1000"/>
              </a:spcBef>
              <a:defRPr sz="900">
                <a:solidFill>
                  <a:srgbClr val="F4F4F4"/>
                </a:solidFill>
              </a:defRPr>
            </a:pPr>
            <a:r>
              <a:t>Per-slot exact</a:t>
            </a:r>
            <a:br/>
            <a:r>
              <a:t>match ratio</a:t>
            </a:r>
          </a:p>
          <a:p>
            <a:pPr algn="ctr">
              <a:spcBef>
                <a:spcPts val="1000"/>
              </a:spcBef>
              <a:defRPr sz="800">
                <a:solidFill>
                  <a:srgbClr val="8D8D8D"/>
                </a:solidFill>
              </a:defRPr>
            </a:pPr>
            <a:r>
              <a:t>Layer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9968" y="1234440"/>
            <a:ext cx="1572768" cy="2377440"/>
          </a:xfrm>
          <a:prstGeom prst="rect">
            <a:avLst/>
          </a:prstGeom>
          <a:solidFill>
            <a:srgbClr val="262626"/>
          </a:solidFill>
          <a:ln w="2222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1C21B"/>
                </a:solidFill>
              </a:defRPr>
            </a:pPr>
            <a:r>
              <a:t>Fuzzy</a:t>
            </a:r>
            <a:br/>
            <a:r>
              <a:t>Score</a:t>
            </a:r>
          </a:p>
          <a:p>
            <a:pPr algn="ctr">
              <a:spcBef>
                <a:spcPts val="1000"/>
              </a:spcBef>
              <a:defRPr sz="900">
                <a:solidFill>
                  <a:srgbClr val="F4F4F4"/>
                </a:solidFill>
              </a:defRPr>
            </a:pPr>
            <a:r>
              <a:t>Token Sort Ratio</a:t>
            </a:r>
            <a:br/>
            <a:r>
              <a:t>over IOC values</a:t>
            </a:r>
          </a:p>
          <a:p>
            <a:pPr algn="ctr">
              <a:spcBef>
                <a:spcPts val="1000"/>
              </a:spcBef>
              <a:defRPr sz="800">
                <a:solidFill>
                  <a:srgbClr val="8D8D8D"/>
                </a:solidFill>
              </a:defRPr>
            </a:pPr>
            <a:r>
              <a:t>Layer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9896" y="1234440"/>
            <a:ext cx="1572768" cy="2377440"/>
          </a:xfrm>
          <a:prstGeom prst="rect">
            <a:avLst/>
          </a:prstGeom>
          <a:solidFill>
            <a:srgbClr val="262626"/>
          </a:solidFill>
          <a:ln w="2222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BE95FF"/>
                </a:solidFill>
              </a:defRPr>
            </a:pPr>
            <a:r>
              <a:t>STIX</a:t>
            </a:r>
            <a:br/>
            <a:r>
              <a:t>Context</a:t>
            </a:r>
          </a:p>
          <a:p>
            <a:pPr algn="ctr">
              <a:spcBef>
                <a:spcPts val="1000"/>
              </a:spcBef>
              <a:defRPr sz="900">
                <a:solidFill>
                  <a:srgbClr val="F4F4F4"/>
                </a:solidFill>
              </a:defRPr>
            </a:pPr>
            <a:r>
              <a:t>stix2 object_similarity</a:t>
            </a:r>
            <a:br/>
            <a:r>
              <a:t>over indicator,</a:t>
            </a:r>
            <a:br/>
            <a:r>
              <a:t>identity, attack-pattern</a:t>
            </a:r>
          </a:p>
          <a:p>
            <a:pPr algn="ctr">
              <a:spcBef>
                <a:spcPts val="1000"/>
              </a:spcBef>
              <a:defRPr sz="800">
                <a:solidFill>
                  <a:srgbClr val="8D8D8D"/>
                </a:solidFill>
              </a:defRPr>
            </a:pPr>
            <a:r>
              <a:t>Both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9824" y="1234440"/>
            <a:ext cx="1572768" cy="2377440"/>
          </a:xfrm>
          <a:prstGeom prst="rect">
            <a:avLst/>
          </a:prstGeom>
          <a:solidFill>
            <a:srgbClr val="262626"/>
          </a:solidFill>
          <a:ln w="2222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8BDBA"/>
                </a:solidFill>
              </a:defRPr>
            </a:pPr>
            <a:r>
              <a:t>Observable</a:t>
            </a:r>
            <a:br/>
            <a:r>
              <a:t>by Type</a:t>
            </a:r>
          </a:p>
          <a:p>
            <a:pPr algn="ctr">
              <a:spcBef>
                <a:spcPts val="1000"/>
              </a:spcBef>
              <a:defRPr sz="900">
                <a:solidFill>
                  <a:srgbClr val="F4F4F4"/>
                </a:solidFill>
              </a:defRPr>
            </a:pPr>
            <a:r>
              <a:t>Jaccard per IOC type,</a:t>
            </a:r>
            <a:br/>
            <a:r>
              <a:t>averaged across types</a:t>
            </a:r>
          </a:p>
          <a:p>
            <a:pPr algn="ctr">
              <a:spcBef>
                <a:spcPts val="1000"/>
              </a:spcBef>
              <a:defRPr sz="800">
                <a:solidFill>
                  <a:srgbClr val="8D8D8D"/>
                </a:solidFill>
              </a:defRPr>
            </a:pPr>
            <a:r>
              <a:t>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9752" y="1234440"/>
            <a:ext cx="1572768" cy="2377440"/>
          </a:xfrm>
          <a:prstGeom prst="rect">
            <a:avLst/>
          </a:prstGeom>
          <a:solidFill>
            <a:srgbClr val="262626"/>
          </a:solidFill>
          <a:ln w="2222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B1FF"/>
                </a:solidFill>
              </a:defRPr>
            </a:pPr>
            <a:r>
              <a:t>Observable</a:t>
            </a:r>
            <a:br/>
            <a:r>
              <a:t>by Value</a:t>
            </a:r>
          </a:p>
          <a:p>
            <a:pPr algn="ctr">
              <a:spcBef>
                <a:spcPts val="1000"/>
              </a:spcBef>
              <a:defRPr sz="900">
                <a:solidFill>
                  <a:srgbClr val="F4F4F4"/>
                </a:solidFill>
              </a:defRPr>
            </a:pPr>
            <a:r>
              <a:t>Jaccard over ALL</a:t>
            </a:r>
            <a:br/>
            <a:r>
              <a:t>values pooled</a:t>
            </a:r>
          </a:p>
          <a:p>
            <a:pPr algn="ctr">
              <a:spcBef>
                <a:spcPts val="1000"/>
              </a:spcBef>
              <a:defRPr sz="800">
                <a:solidFill>
                  <a:srgbClr val="8D8D8D"/>
                </a:solidFill>
              </a:defRPr>
            </a:pPr>
            <a:r>
              <a:t>Both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Disagreement between the scores IS the signal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High context with low observable overlap = the same threat and the same rule, aimed at a different target.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Zero hash with a high observable score = a cross-rule match. The scores are reported side by side, never blended into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Canonical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 cluster is a flat star — origin plus members. Never a 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In the engine — O(1), no walk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Every stored record carries its origin, inherited from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candidate it matched at WRITE time. An unmatched alert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its own origin. The chain is compressed as it is built,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so resolving one is a single Redis GET and nothing ever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walks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In Apollo — one recursive CTE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resolveRootCanonicalId walks parent_alert_id to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parentless row in ONE query, whatever the depth. Every hop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constrained to the customer. It refuses rather than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guesses: a cycle, an unreadable parent, an unknown id, or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chain past 1,000 hops raises instead of naming an origin.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Two independent answers, compared on every duplicate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42BE65"/>
                </a:solidFill>
                <a:latin typeface="Consolas"/>
              </a:defRPr>
            </a:pPr>
            <a:r>
              <a:t>agree              both name the same origin, or the engine reported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58184"/>
            <a:ext cx="822960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1C21B"/>
                </a:solidFill>
                <a:latin typeface="Consolas"/>
              </a:defRPr>
            </a:pPr>
            <a:r>
              <a:t>engine-shallower   the engine named its direct match; Redis aged out or predates the field. Apollo's answer stands.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78808"/>
            <a:ext cx="822960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disagree           the engine named a third alert. The two stores disagree about membership — a person should look.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DEDUPLICATION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Policy and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Every threshold that decides a verdict is fetched per customer and echoed back on the response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Where it comes from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it is not hardcoded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 window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2880 min (48h)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dedup_defaults.yaml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Operator policy, changed without a deploy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Redis TTL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2880 min (48h)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dedup_defaults.yaml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Must track the window or matching goes silent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L1 confidence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PolicyForge, per customer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CIP Invariant 2 — business rules are policy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L2 similarity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PolicyForge, per customer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Same; tolerance differs per estate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STIX equivalence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enabled, thr. 80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dedup_defaults.yaml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Cross-check can be turned off per environment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Notable field map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11 ip / 9 user / 5 email / ...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dedup_defaults.yaml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 new vendor field is config, not code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Thresholds Travel With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 score is meaningless without the bar it was judged against — and the bar varies per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12344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100">
                <a:solidFill>
                  <a:srgbClr val="33B1FF"/>
                </a:solidFill>
                <a:latin typeface="Consolas"/>
              </a:defRPr>
            </a:pPr>
            <a:r>
              <a:t>"applied_thresholds": { "layer1_confidence_threshold": 0.80,</a:t>
            </a:r>
          </a:p>
          <a:p>
            <a:pPr>
              <a:defRPr sz="1100">
                <a:solidFill>
                  <a:srgbClr val="33B1FF"/>
                </a:solidFill>
                <a:latin typeface="Consolas"/>
              </a:defRPr>
            </a:pPr>
            <a:r>
              <a:t>                        "layer2_similarity_threshold": 80 },</a:t>
            </a:r>
          </a:p>
          <a:p>
            <a:pPr>
              <a:defRPr sz="1100">
                <a:solidFill>
                  <a:srgbClr val="33B1FF"/>
                </a:solidFill>
                <a:latin typeface="Consolas"/>
              </a:defRPr>
            </a:pPr>
            <a:r>
              <a:t>"threshold_source":   "POLICYFORGE" | "POLICYFORGE_PENDING" | "STATIC"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402336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When PolicyForge is unreachable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fetch failure is logged, the static config is used,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and the source is reported as such on the response.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config warning event is emitted so the fallback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visible rather than inferred. The engine keeps deciding;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just tells you which rules it decided under.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Why echo it at all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stored verdict outlives the policy that produced it.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Six months later, "hash_confidence 0.83, DUPLICATE"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only defensible if the response also says the bar was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0.80 at the time. Without it, a threshold change silently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rewrites the meaning of every historical verdict.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When the Engine Is Not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Dedup is on the hot path, so its failure mode is a design decision, not an accident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0604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Fail open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 verdict means the alert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processed as if it were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NEW.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There is no local fallback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engine to fall back to: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in-process dedup was removed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when it moved to ml-service.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188720"/>
            <a:ext cx="260604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Budget and breaker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timeout      3,000 ms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retries      0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breaker      5 consecutive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cooldown     30 s half-open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retry on a slow dedup call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spends the budget twice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without improving the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260604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Never a silent gap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Four audit event types are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written on the alert itself: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dedup.request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dedup.verdict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dedup.failed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dedup.skipped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Two contract violations Apollo refuses to honour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DUPLICATE or SIMILAR verdict with no matched_alert_id cannot be linked to anything. Apollo logs it as the engine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contract violation it is and treats the alert as NEW, rather than marking it suppressed while attaching it to nothing.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unresolvable canonical — a cycle, an unreadable parent, a chain past the bound — makes Apollo decline to name an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origin at all. Returning the row the walk happened to stop on would hand the caller an intermediate wearing the name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of an origin, and the cluster's dedup_count would land on the wrong alert.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Example — Exact Duplicate (Layer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Same rule, same window, same indicators → DUPLICATE at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D8D8D"/>
                </a:solidFill>
              </a:defRPr>
            </a:pPr>
            <a:r>
              <a:t>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D8D8D"/>
                </a:solidFill>
              </a:defRPr>
            </a:pPr>
            <a:r>
              <a:t>INCOMING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D8D8D"/>
                </a:solidFill>
              </a:defRPr>
            </a:pPr>
            <a:r>
              <a:t>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188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D8D8D"/>
                </a:solidFill>
              </a:defRPr>
            </a:pPr>
            <a:r>
              <a:t>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  ip          203.0.113.45              203.0.113.45              matched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  user        jdoe                      jdoe                      matched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  email       jdoe@acme.com             jdoe@acme.com             matched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Response</a:t>
            </a:r>
          </a:p>
          <a:p>
            <a:pPr>
              <a:spcBef>
                <a:spcPts val="300"/>
              </a:spcBef>
              <a:defRPr sz="1100">
                <a:solidFill>
                  <a:srgbClr val="F4F4F4"/>
                </a:solidFill>
                <a:latin typeface="Consolas"/>
              </a:defRPr>
            </a:pPr>
            <a:r>
              <a:t>verdict DUPLICATE   layer 1   hash_confidence 1.00   matched [ip, user, email]   missed 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defRPr sz="1200" b="0">
                <a:solidFill>
                  <a:srgbClr val="C6C6C6"/>
                </a:solidFill>
              </a:defRPr>
            </a:pPr>
            <a:r>
              <a:t>Context 100  |  Observable by type 100  |  Observable by value 100</a:t>
            </a:r>
          </a:p>
          <a:p>
            <a:pPr algn="ctr">
              <a:lnSpc>
                <a:spcPct val="135000"/>
              </a:lnSpc>
              <a:defRPr sz="1200" b="0">
                <a:solidFill>
                  <a:srgbClr val="C6C6C6"/>
                </a:solidFill>
              </a:defRPr>
            </a:pPr>
            <a:r>
              <a:t>Every cross-check agrees, which is what an exact duplicate is supposed to look like.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Example — Cross-Rule Correlation (Layer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Different rules, one shared IP, two different accounts → SIMILAR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54864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8BDBA"/>
                </a:solidFill>
              </a:defRPr>
            </a:pPr>
            <a:r>
              <a:t>Defender — High Severity Alerts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Parent alert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548640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B1FF"/>
                </a:solidFill>
              </a:defRPr>
            </a:pPr>
            <a:r>
              <a:t>Brute Force Detection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Incoming alert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  ip      6.244.192.143          6.244.192.143          fuzzy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F1C21B"/>
                </a:solidFill>
                <a:latin typeface="Consolas"/>
              </a:defRPr>
            </a:pPr>
            <a:r>
              <a:t>  user    myekrangian            jreaga3                fuzzy 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F1C21B"/>
                </a:solidFill>
                <a:latin typeface="Consolas"/>
              </a:defRPr>
            </a:pPr>
            <a:r>
              <a:t>  email   myekrangian@lsu.edu    jreaga3@lsu.edu        fuzzy  65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Response</a:t>
            </a:r>
          </a:p>
          <a:p>
            <a:pPr>
              <a:spcBef>
                <a:spcPts val="300"/>
              </a:spcBef>
              <a:defRPr sz="1100">
                <a:solidFill>
                  <a:srgbClr val="F4F4F4"/>
                </a:solidFill>
                <a:latin typeface="Consolas"/>
              </a:defRPr>
            </a:pPr>
            <a:r>
              <a:t>verdict SIMILAR   layer 2   fuzzy 69.8   context 100   obs/type 44   obs/value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Hash confidence is 0 — Layer 1 never even compared these, because the rule names differ. The shared address and the shared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mail domain are what the fuzzy pass sees, and the context score confirms the two alerts describe the same kind of 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SOAR Verdict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GET /dedup-verdict/{containerId} — SOAR asks about one container and gets an actionable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{ "container_id": "7217",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"role":         "child",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"verdict":      "DUPLICATE",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"parent": { "container_id": "7201",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          "entity_fingerprint": "a1b2c3d" },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"child":  { "container_id": "7217",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          "entity_fingerprint": "a1b2c3d" },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"recommendation": "auto_close" }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How the recommendation is decided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auto_close        both sides carry the SAME entity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          fingerprint — two independent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          signals agree.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review_required   anything else, INCLUDING either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          side having no fingerprint yet.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          Absence is never agreement.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Three decisions worth stating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match is decided on the FULL digest; only its 7-character short form is returned. A chance prefix collision can never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auto-close an alert.  ·  The parent is always the cluster's ROOT canonical, never an intermediate — with one canonical and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three duplicates, every duplicate ties back to the first alert.  ·  The verdict follows the row's ROLE: a parent is always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NEW, a child is DUPLICATE or SIMILAR, so an inconsistent stored value cannot leak across the role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BE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E95FF"/>
                </a:solidFill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Named Entity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Why a model instead of field mappings  ·  The checkpoint and its labels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Serving mechanics  ·  What Apollo sends and what it keeps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The extraction queue  ·  Thresholds, exclusions, and frozen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Why a Model and Not More Field Mappings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dedup parser needs a vendor's field names. The extractor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What field mapping costs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Eleven aliases for ip. Nine for user. Six for domain.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Every new vendor, every renamed CEF key, every product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upgrade is another entry — and a missing entry is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silent miss, not an error.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also cannot read anything unstructured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What the model does instead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reads the TEXT and returns typed character spans.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 field names are consulted at any point.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same checkpoint works identically on raw pasted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text, a serialized record, and a CEF JSON blob — which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what makes it reusable beyond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What it is used for in Apollo today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Entities tab on alert detail — the typed values an analyst can pivot on, with the model's score beside each one.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Entity fingerprint — a second, independent signature over what the alert is ABOUT.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Deduplication tab — the fingerprint comparison that turns into the auto-close recommendation on the SOAR verdict API.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is advisory output, and the response says so explicitly: extracted entities are never a command.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securebert2-ner-alerts-v1 — a fine-tuned SecureBERT2.0 / ModernBERT token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IPV4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0552" y="1234440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IPV6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3904" y="1234440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HASH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7256" y="1234440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0608" y="1234440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USERNAME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92808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1892808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FILENAME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3904" y="1892808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FILEPATH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7256" y="1892808"/>
            <a:ext cx="1536192" cy="530352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E95FF"/>
                </a:solidFill>
                <a:latin typeface="Consolas"/>
              </a:defRPr>
            </a:pPr>
            <a:r>
              <a:t>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92807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C6C6C6"/>
                </a:solidFill>
              </a:defRPr>
            </a:pPr>
            <a:r>
              <a:t>9 entity types</a:t>
            </a:r>
          </a:p>
          <a:p>
            <a:pPr algn="ctr">
              <a:lnSpc>
                <a:spcPct val="130000"/>
              </a:lnSpc>
              <a:defRPr sz="1200" b="1">
                <a:solidFill>
                  <a:srgbClr val="C6C6C6"/>
                </a:solidFill>
              </a:defRPr>
            </a:pPr>
            <a:r>
              <a:t>19 BIO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402336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Loaded, not bundled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Artifacts are pulled from S3 at startup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(cip-ml-training / ner/transformers/...) into a local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cache directory, then loaded.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failed startup load retries in the background —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5 attempts, 30s doubling to a 300s ceiling — so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transient S3 blip cannot strand the endpoint on 503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for the life of the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651760"/>
            <a:ext cx="4023360" cy="182880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The label map is validated before the weights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config.json's id2label is checked first: ids contiguous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from zero, every expected label present, nothing extra,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 duplicates, exactly 19 entries.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checkpoint whose label set has drifted is rejected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before the model is paid for — rather than serving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confident nonsense under the right type names.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How a Span Becomes an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Three mechanics, each of which changes what the model can see or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2606040" cy="2606040"/>
          </a:xfrm>
          <a:prstGeom prst="rect">
            <a:avLst/>
          </a:prstGeom>
          <a:solidFill>
            <a:srgbClr val="262626"/>
          </a:solidFill>
          <a:ln w="2222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defRPr sz="1400" b="1">
                <a:solidFill>
                  <a:srgbClr val="08BDBA"/>
                </a:solidFill>
              </a:defRPr>
            </a:pPr>
            <a:r>
              <a:t>Rendering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A JSON object is rendered</a:t>
            </a:r>
            <a:br/>
            <a:r>
              <a:t>one 'key: value' line per</a:t>
            </a:r>
            <a:br/>
            <a:r>
              <a:t>field, mirroring the training</a:t>
            </a:r>
            <a:br/>
            <a:r>
              <a:t>serializer. Placeholder values</a:t>
            </a:r>
            <a:br/>
            <a:r>
              <a:t>('-', 'n/a', 'unknown', 'true')</a:t>
            </a:r>
            <a:br/>
            <a:r>
              <a:t>are dropped. Anything not a</a:t>
            </a:r>
            <a:br/>
            <a:r>
              <a:t>JSON object passes through</a:t>
            </a:r>
            <a:br/>
            <a:r>
              <a:t>untouched.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9544" y="1234440"/>
            <a:ext cx="2606040" cy="2606040"/>
          </a:xfrm>
          <a:prstGeom prst="rect">
            <a:avLst/>
          </a:prstGeom>
          <a:solidFill>
            <a:srgbClr val="262626"/>
          </a:solidFill>
          <a:ln w="2222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defRPr sz="1400" b="1">
                <a:solidFill>
                  <a:srgbClr val="33B1FF"/>
                </a:solidFill>
              </a:defRPr>
            </a:pPr>
            <a:r>
              <a:t>Windowing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Long input runs in</a:t>
            </a:r>
            <a:br/>
            <a:r>
              <a:t>overlapping character windows</a:t>
            </a:r>
            <a:br/>
            <a:r>
              <a:t>— 3,000 chars with 300 of</a:t>
            </a:r>
            <a:br/>
            <a:r>
              <a:t>overlap, under a 1,024-token</a:t>
            </a:r>
            <a:br/>
            <a:r>
              <a:t>cap. Nothing past the</a:t>
            </a:r>
            <a:br/>
            <a:r>
              <a:t>sequence limit is silently</a:t>
            </a:r>
            <a:br/>
            <a:r>
              <a:t>dropped, and spans straddling</a:t>
            </a:r>
            <a:br/>
            <a:r>
              <a:t>a seam survive.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7608" y="1234440"/>
            <a:ext cx="2606040" cy="2606040"/>
          </a:xfrm>
          <a:prstGeom prst="rect">
            <a:avLst/>
          </a:prstGeom>
          <a:solidFill>
            <a:srgbClr val="262626"/>
          </a:solidFill>
          <a:ln w="2222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defRPr sz="1400" b="1">
                <a:solidFill>
                  <a:srgbClr val="F1C21B"/>
                </a:solidFill>
              </a:defRPr>
            </a:pPr>
            <a:r>
              <a:t>Scoring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A span's score is the MINIMUM</a:t>
            </a:r>
            <a:br/>
            <a:r>
              <a:t>winning-token probability</a:t>
            </a:r>
            <a:br/>
            <a:r>
              <a:t>across its tokens: a span is</a:t>
            </a:r>
            <a:br/>
            <a:r>
              <a:t>only as certain as its weakest</a:t>
            </a:r>
            <a:br/>
            <a:r>
              <a:t>token.</a:t>
            </a:r>
            <a:br/>
            <a:br/>
            <a:r>
              <a:t>Ranking scores, NOT calibrated</a:t>
            </a:r>
            <a:br/>
            <a:r>
              <a:t>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Duplicate and nested spans at a window seam are collapsed by keeping the longest span of any overlapping same-type pair,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and a span seen twice keeps the higher score — so a seam can never lower an entity's rank.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Apollo Sends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CEF fields, and nothing else — narrowing belongs in the caller, not the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Before: the whole payload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engine was asked to descend to a SOAR envelope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path that no Apollo payload actually has, so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descent never matched and the ENTIRE payload rendered.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model was handed SOAR bookkeeping and saved-search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text, and returned entities from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HASH      &lt;container source_data_identifier&gt;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655064"/>
            <a:ext cx="402336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USERNAME  "high"        (the severity value)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075688"/>
            <a:ext cx="402336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FILEPATH  WinEventLog\, XmlWin   (SPL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496312"/>
            <a:ext cx="4023360" cy="3657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URL       .../mission/7217  (the SOAR link)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Roughly four of twelve entities were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Now: Apollo narrows to soar_cef before calling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alert payload carries soar_cef — the verbatim CEF maps of the container's OBSERVABLE artifacts, with SOAR's own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bookkeeping labels already filtered out. ALL artifacts are included, not just the first, and a key present on more than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one artifact becomes a list of its distinct values rather than last-write-wins.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empty soar_cef is still recognised as a SOAR payload: the presence of the key is the signal, not its length — otherwise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alerts with the least real content would be exactly the ones that fell back to sending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Apollo Keeps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per-type rollup — not the spans, not the rendered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// stored on the alert row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{ modelName, renderedFromJson,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byType: {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IPV4:     [{ value, score, count }, ...],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  USERNAME: [{ value, score, count }, ...],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},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  entityCount: 12  // SPANS, as reported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Why the spans are dropped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response also carries every span with character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offsets, and the rendered text those offsets index into.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offsets are meaningless without that text; the text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a near-duplicate of the raw payload already on the row;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and the UI shows distinct VALUES, not spans. Keeping all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three would multiply every alert row for a view nothing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renders.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Null and empty are not the same thing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null       extraction did not happen or did not return — the engine was unreachable, the input was empty, or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        no client is configured. The Entities tab is hidden.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empty      the model ran and recognised nothing. The tab is shown, saying so.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Collapsing the two would make a degraded engine look like a clean alert — which is exactly the ambiguity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ner_skipped audit reasons exist to remove.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Extraction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Detached is not enough — a burst fired concurrently is still a burst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What happened without it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SOAR does not deliver alerts evenly; it delivers bursts —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seven inside fifteen seconds.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Firing a burst concurrently does not make a single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CPU-bound engine faster. Every request queues INSIDE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engine and they all cross the client timeout together.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Five consecutive timeouts then open the breaker.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280160"/>
            <a:ext cx="402336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45-minute window:  10 completed,  47 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728216"/>
            <a:ext cx="402336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38 timeouts  ·  9 rejected on an open circuit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176272"/>
            <a:ext cx="402336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FA4D56"/>
                </a:solidFill>
                <a:latin typeface="Consolas"/>
              </a:defRPr>
            </a:pPr>
            <a:r>
              <a:t>One alert was rejected 2 ms after arriving.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514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6C6C6"/>
                </a:solidFill>
              </a:defRPr>
            </a:pPr>
            <a:r>
              <a:t>A longer timeout alone was not the fix. The fix was to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C6C6C6"/>
                </a:solidFill>
              </a:defRPr>
            </a:pPr>
            <a:r>
              <a:t>stop sending a burst as a burst.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Three bounds, each for a different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606040" cy="777240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concurrency  1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caps what the engine sees at once — this is the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474720"/>
            <a:ext cx="2606040" cy="777240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maxPending  500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caps memory when the engine is down and work keeps arriving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3474720"/>
            <a:ext cx="2606040" cy="777240"/>
          </a:xfrm>
          <a:prstGeom prst="rect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maxAge  10 min</a:t>
            </a:r>
          </a:p>
          <a:p>
            <a:pPr algn="ctr">
              <a:defRPr sz="900">
                <a:solidFill>
                  <a:srgbClr val="F4F4F4"/>
                </a:solidFill>
              </a:defRPr>
            </a:pPr>
            <a:r>
              <a:t>drops work that waited so long it stopped being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8D8D8D"/>
                </a:solidFill>
              </a:defRPr>
            </a:pPr>
            <a:r>
              <a:t>When full the OLDEST item is dropped, not the newest: a saturated queue means the alert an analyst is looking at NOW is worth more than one from twenty minutes ago. Every drop still writes an audit row, with the reason.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NAMED ENTITY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Enrichment, Not a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Dedup's failure changes what happens to the alert; this one does not. Two clients, two breakers — a degraded engine cannot take the other down.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Dedup service client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NER service client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Synchronous, on the hot path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Detached, queued, nothing waits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Timeout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3,000 ms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45,000 ms (overridable)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Retries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 — a retry spends the budget twice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 — same convention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Breaker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 consecutive / 30s half-open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 consecutive / 30s half-open, OWN name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On failure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Fail open: alert processed as NEW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Alert simply has no entity list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Caller does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Acts on the error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Records it and carries on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Why 45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budget has to clear the tail the engine actually produces, or the fix reads as no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FA4D56"/>
                </a:solidFill>
                <a:latin typeface="Consolas"/>
              </a:defRPr>
            </a:pPr>
            <a:r>
              <a:t>  2 s   every real SOAR payload timed out; the breaker tripped and the alerts behind it were never tried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F1C21B"/>
                </a:solidFill>
                <a:latin typeface="Consolas"/>
              </a:defRPr>
            </a:pPr>
            <a:r>
              <a:t> 20 s   measured successes at 4.7, 8.9, 11.2, 16.0, 17.1 and 28.8 s — the tail sat ABOVE the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 45 s   clears the observed tail. The engine's own contention is addressed at its source, by the queue.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Two separate causes, two separate fixes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CONTENTION was the queue's to fix: serialise the burst, and pin the engine's torch thread count so one extraction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cannot starve the others. The BUDGET was the client's: a transformer forward pass over up to 100,000 characters costs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what it costs, and the timeout should reflect that rather than what an alert can afford to wait — because nothing waits.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Latency on an enrichment nobody waits for is not a user-visible number. Losing 83% of it very much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Display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One number, measured against production before it was chosen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206240" cy="141732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11,625 distinct values / 999 alerts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min  0.322   p01 0.449   p05 0.536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p10  0.619   p25 0.952   p50 0.9989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p75  0.9999  max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234440"/>
            <a:ext cx="38862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C6C6C6"/>
                </a:solidFill>
                <a:latin typeface="Consolas"/>
              </a:defRPr>
            </a:pPr>
            <a:r>
              <a:t>  0.50  withholds   2.0%      0.99   34.5%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682496"/>
            <a:ext cx="38862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C6C6C6"/>
                </a:solidFill>
                <a:latin typeface="Consolas"/>
              </a:defRPr>
            </a:pPr>
            <a:r>
              <a:t>  0.80  withholds  16.6%      0.999  50.7%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2130552"/>
            <a:ext cx="3886200" cy="384048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900">
                <a:solidFill>
                  <a:srgbClr val="42BE65"/>
                </a:solidFill>
                <a:latin typeface="Consolas"/>
              </a:defRPr>
            </a:pPr>
            <a:r>
              <a:t>  0.90  withholds  20.5%      0.9999 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606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BE65"/>
                </a:solidFill>
              </a:defRPr>
            </a:pPr>
            <a:r>
              <a:t>Default: 0.90 — one value in five withheld.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What the measurement does and does not establish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engine's contract says the scores cluster near 1.0, and the median does. But the tail is real and not thin: a tenth of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all values sit below 0.62. So a threshold in this range does substantive work rather than being decoration — which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why measuring was a precondition for choosing at all.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What it does NOT say is whether the withheld fifth is the WRONG fifth. The run selected score and label only, never an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extracted value, so it measures the shape of the distribution and nothing about precision. Establishing that needs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labelled values, and is separate work. One threshold applies to every entity type; there is no per-type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Exclusion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An entity type plus a value pattern — the operator's statement about what is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A blacklist, deliberately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default is to keep everything the model returns and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remove only what an operator has NAMED as noise: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vendor console URL on every alert from one connector,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literal word "user" recognised as a USERNAME.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whitelist would silently drop every legitimate value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nobody had thought of yet.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69164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Bound to one type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"user" excluded as a USERNAME is not "user" excluded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as a MACHINE or a FILENAME. A rule for every type has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to be written once per type — which is the point: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operator states what they mean.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`*` matches any run of characters including none.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Matching is case-insensitive on both type and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Counted separately from the threshold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tab reports extracted values, shown values and excluded values as three distinct numbers, so it can name which of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two hid a value. A value that is both below the threshold AND matches a rule counts as excluded, not as below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threshold: the rule is the operator's explicit statement, and the more useful thing to report.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Each rule carries a human-readable code (EX-1, EX-2, ...) so a withheld value can be traced to the rule that withheld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Frozen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 settings change applies to alerts extracted from that moment on. Nothing rewrites the past.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The problem with read-time filtering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threshold and the exclusion rules used to be applied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when an alert was READ.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So moving the threshold rewrote what every past alert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showed — and the fingerprint every past alert carried.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analyst could not cite what they saw yesterday.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What is frozen, and when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result is computed ONCE, when the extraction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stored, and written with everything that produced it: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threshold in force, the exclusion rules as stored,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kept values, the four counts, and the fingerprint.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Alerts predating this were frozen once by a backfill,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marked as such, so every alert follows the same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The raw output is never discarded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model's full response stays in ner_extraction, and the verbatim request and response stay in the audit rows.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Extraction is expensive — successes measured from 4.7 to 28.8 seconds — so re-running it to answer "what would this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look like at a different threshold?" is not the design. Re-deriving it from what is already stored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1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21B"/>
                </a:solidFill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Fingerprinting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Three hashes, three jobs, one shared technique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IOC slot hashes  ·  Entity fingerprints  ·  Disposition pattern hashes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And what it means when two of them 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FINGERPRINTING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Three Fingerprints, Three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What is shared is the per-slot SHA-256 technique. The vocabularies are deliberately not shared.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IOC slot hash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Entity fingerprint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Layer-0 pattern hash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Normalized IOC values per slot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Extracted entity VALUES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rule | vendor | technique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Vendor fields, by mapping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The NER model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Vendor fields, by adapter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Shape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One SHA-256 per slot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One SHA-256 over the set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SHA-256, first 16 hex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Vocabulary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 IOC + 2 prerequisite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9 entity types, values only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16 disposition slots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Answers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Which indicators match?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Are these about the same things?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Is this the same pattern?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Used by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Dedup Layer 1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Auto-close recommendation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FP/BP disposition engine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Entity Fingerprint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One hash over the set of extracted values that survive the threshold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canonical = sorted(set(values))              # distinct, sorted by code unit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sha256    = SHA256(JSON.stringify(canonical))  # a JSON array — injective, no separator a value could contain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return { algorithm: 'sha256', sha256, valueCount, minScore, values: canonical 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2606040" cy="2011680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Values only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Not the type, not the score,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not the count.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"10.0.0.5" contributes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same bytes whether the model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called it an IPV4 or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MACHINE.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De-duplicated across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514600"/>
            <a:ext cx="2606040" cy="201168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The threshold is an input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caller passes the values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at or above the operator's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threshold, so the fingerprint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describes what the analyst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looking at.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minScore rides alongside, so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nothing compares across two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thresholds by accident.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514600"/>
            <a:ext cx="2606040" cy="201168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No values, no fingerprint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empty set hashes to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constant — so two alerts with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nothing extracted would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"match" on it.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Returns null instead, and null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review_required.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Absence never reads as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agreement.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Two Independent Signatures,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Dedup Layer 1 hashes the alert's FIELDS. The fingerprint hashes what a model READ.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011680" cy="777240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4589FF"/>
                </a:solidFill>
              </a:defRPr>
            </a:pPr>
            <a:r>
              <a:t>Layer 1 hash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vendor fields,</a:t>
            </a:r>
            <a:br/>
            <a:r>
              <a:t>by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2011680" cy="777240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100" b="1">
                <a:solidFill>
                  <a:srgbClr val="BE95FF"/>
                </a:solidFill>
              </a:defRPr>
            </a:pPr>
            <a:r>
              <a:t>Entity fingerprint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model output,</a:t>
            </a:r>
            <a:br/>
            <a:r>
              <a:t>no field names</a:t>
            </a:r>
          </a:p>
        </p:txBody>
      </p:sp>
      <p:sp>
        <p:nvSpPr>
          <p:cNvPr id="6" name="Diamond 5"/>
          <p:cNvSpPr/>
          <p:nvPr/>
        </p:nvSpPr>
        <p:spPr>
          <a:xfrm>
            <a:off x="3017520" y="1600200"/>
            <a:ext cx="1371600" cy="1234440"/>
          </a:xfrm>
          <a:prstGeom prst="diamond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1C21B"/>
                </a:solidFill>
              </a:defRPr>
            </a:pPr>
            <a:r>
              <a:t>Agree?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664208"/>
            <a:ext cx="457200" cy="347472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560320" y="2395728"/>
            <a:ext cx="457200" cy="274320"/>
          </a:xfrm>
          <a:prstGeom prst="bentConnector3">
            <a:avLst/>
          </a:prstGeom>
          <a:ln w="15875">
            <a:solidFill>
              <a:srgbClr val="8D8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46320" y="1371600"/>
            <a:ext cx="1920240" cy="731520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auto_close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identical digests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377440"/>
            <a:ext cx="1920240" cy="731520"/>
          </a:xfrm>
          <a:prstGeom prst="rect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review_required</a:t>
            </a:r>
          </a:p>
          <a:p>
            <a:pPr algn="ctr">
              <a:defRPr sz="700">
                <a:solidFill>
                  <a:srgbClr val="C6C6C6"/>
                </a:solidFill>
              </a:defRPr>
            </a:pPr>
            <a:r>
              <a:t>anything else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389120" y="1737360"/>
            <a:ext cx="457200" cy="274320"/>
          </a:xfrm>
          <a:prstGeom prst="bentConnector3">
            <a:avLst/>
          </a:prstGeom>
          <a:ln w="15875">
            <a:solidFill>
              <a:srgbClr val="42B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395728"/>
            <a:ext cx="457200" cy="347472"/>
          </a:xfrm>
          <a:prstGeom prst="bentConnector3">
            <a:avLst/>
          </a:prstGeom>
          <a:ln w="15875">
            <a:solidFill>
              <a:srgbClr val="F1C2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95160" y="1371600"/>
            <a:ext cx="169164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8D8D8D"/>
                </a:solidFill>
              </a:defRPr>
            </a:pPr>
            <a:r>
              <a:t>Why it counts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Two alerts Layer 1 calls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duplicates should, if the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call is right, be ABOUT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the same things.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The fingerprint checks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that without asking the</a:t>
            </a:r>
          </a:p>
          <a:p>
            <a:pPr>
              <a:spcBef>
                <a:spcPts val="300"/>
              </a:spcBef>
              <a:defRPr sz="900">
                <a:solidFill>
                  <a:srgbClr val="F4F4F4"/>
                </a:solidFill>
              </a:defRPr>
            </a:pPr>
            <a:r>
              <a:t>same question twice.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The two signatures share no inputs and no code path: one reads named vendor fields through a configured map, the other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reads text through a transformer that never sees a field name. That independence is what makes agreement worth</a:t>
            </a:r>
          </a:p>
          <a:p>
            <a:pPr algn="l">
              <a:lnSpc>
                <a:spcPct val="130000"/>
              </a:lnSpc>
              <a:defRPr sz="1100" b="0">
                <a:solidFill>
                  <a:srgbClr val="C6C6C6"/>
                </a:solidFill>
              </a:defRPr>
            </a:pPr>
            <a:r>
              <a:t>something — and it is what lets Apollo hand SOAR a recommendation rather than just a verdict.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Layer 0 — Disposition Fingerprints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same technique, a different vocabulary, a different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100">
                <a:solidFill>
                  <a:srgbClr val="08BDBA"/>
                </a:solidFill>
                <a:latin typeface="Consolas"/>
              </a:defRPr>
            </a:pPr>
            <a:r>
              <a:t>src_ip   dest_ip   user   host   process   command_line   file_hash   rule_name</a:t>
            </a:r>
          </a:p>
          <a:p>
            <a:pPr>
              <a:defRPr sz="1100">
                <a:solidFill>
                  <a:srgbClr val="08BDBA"/>
                </a:solidFill>
                <a:latin typeface="Consolas"/>
              </a:defRPr>
            </a:pPr>
            <a:r>
              <a:t>technique_id   vendor_risk   vendor_status   geo_country   geo_city   geo_lat   geo_lon   asn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402336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Per-slot hashing, lifted from dedup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One SHA-256 per slot over "&lt;slot&gt;:&lt;value&gt;", never one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hash over a blob — so an explanation can say WHICH slots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matched a registry entry and which were missing.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Normalization is trim + lowercase, matched to the pattern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hash so the two hashes in a block agree on sameness.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148840"/>
            <a:ext cx="402336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F7EB6"/>
                </a:solidFill>
              </a:defRPr>
            </a:pPr>
            <a:r>
              <a:t>The pattern hash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sha256(rule_name | source_vendor | technique_id),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lowercased and trimmed, truncated to 16 hex.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identifies a DETECTION PATTERN rather than an alert,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which is what a false-positive / benign-positive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judgement attaches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262626"/>
          </a:solidFill>
          <a:ln w="15875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8D8D8D"/>
                </a:solidFill>
              </a:defRPr>
            </a:pPr>
            <a:r>
              <a:t>A frozen vocabulary, enforced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slot schema is strict and the hash map is keyed to the same enum, so an invented slot — or an invented hash key —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rejected rather than validating. Multi-value observables belong to dedup's IOC slots; Layer 0 takes one value per slot.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33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B1FF"/>
                </a:solidFill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Detection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What is firing, for whom, and what it covers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Insights  ·  Topology  ·  ATT&amp;CK Coverage  ·  Rule Catalog  ·  Customers</a:t>
            </a:r>
          </a:p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Plus the dedup charts: is the engine actually earning its place?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Detection Analytics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Dedup tells you about one alert. This tells you about the detection estate.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06040" cy="868680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589FF"/>
                </a:solidFill>
              </a:defRPr>
            </a:pPr>
            <a:r>
              <a:t>Total Alerts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every alert ingested, all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188720"/>
            <a:ext cx="2606040" cy="868680"/>
          </a:xfrm>
          <a:prstGeom prst="rect">
            <a:avLst/>
          </a:prstGeom>
          <a:solidFill>
            <a:srgbClr val="262626"/>
          </a:solidFill>
          <a:ln w="1905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2BE65"/>
                </a:solidFill>
              </a:defRPr>
            </a:pPr>
            <a:r>
              <a:t>Onboarded Customers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active and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2606040" cy="868680"/>
          </a:xfrm>
          <a:prstGeom prst="rect">
            <a:avLst/>
          </a:prstGeom>
          <a:solidFill>
            <a:srgbClr val="262626"/>
          </a:solidFill>
          <a:ln w="19050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B1FF"/>
                </a:solidFill>
              </a:defRPr>
            </a:pPr>
            <a:r>
              <a:t>Unique Detection Rules</a:t>
            </a:r>
          </a:p>
          <a:p>
            <a:pPr algn="ctr">
              <a:defRPr sz="1000">
                <a:solidFill>
                  <a:srgbClr val="F4F4F4"/>
                </a:solidFill>
              </a:defRPr>
            </a:pPr>
            <a:r>
              <a:t>distinct rule names received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57276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Insights</a:t>
            </a:r>
          </a:p>
          <a:p>
            <a:pPr algn="ctr">
              <a:spcBef>
                <a:spcPts val="800"/>
              </a:spcBef>
              <a:defRPr sz="900">
                <a:solidFill>
                  <a:srgbClr val="F4F4F4"/>
                </a:solidFill>
              </a:defRPr>
            </a:pPr>
            <a:r>
              <a:t>Volume: alerts per rule,</a:t>
            </a:r>
            <a:br/>
            <a:r>
              <a:t>per alert title, per</a:t>
            </a:r>
            <a:br/>
            <a:r>
              <a:t>security domain and</a:t>
            </a:r>
            <a:br/>
            <a:r>
              <a:t>severity.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2286000"/>
            <a:ext cx="157276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Topology</a:t>
            </a:r>
          </a:p>
          <a:p>
            <a:pPr algn="ctr">
              <a:spcBef>
                <a:spcPts val="800"/>
              </a:spcBef>
              <a:defRPr sz="900">
                <a:solidFill>
                  <a:srgbClr val="F4F4F4"/>
                </a:solidFill>
              </a:defRPr>
            </a:pPr>
            <a:r>
              <a:t>A graph of what a rule</a:t>
            </a:r>
            <a:br/>
            <a:r>
              <a:t>is connected to —</a:t>
            </a:r>
            <a:br/>
            <a:r>
              <a:t>customers, domains,</a:t>
            </a:r>
            <a:br/>
            <a:r>
              <a:t>severities, titles.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5616" y="2286000"/>
            <a:ext cx="157276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ATT&amp;CK</a:t>
            </a:r>
            <a:br/>
            <a:r>
              <a:t>Coverage</a:t>
            </a:r>
          </a:p>
          <a:p>
            <a:pPr algn="ctr">
              <a:spcBef>
                <a:spcPts val="800"/>
              </a:spcBef>
              <a:defRPr sz="900">
                <a:solidFill>
                  <a:srgbClr val="F4F4F4"/>
                </a:solidFill>
              </a:defRPr>
            </a:pPr>
            <a:r>
              <a:t>Which techniques the</a:t>
            </a:r>
            <a:br/>
            <a:r>
              <a:t>detections cover, and</a:t>
            </a:r>
            <a:br/>
            <a:r>
              <a:t>which they do not.</a:t>
            </a:r>
            <a:br/>
            <a:r>
              <a:t>The gap is the product.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95544" y="2286000"/>
            <a:ext cx="157276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Rule Catalog</a:t>
            </a:r>
          </a:p>
          <a:p>
            <a:pPr algn="ctr">
              <a:spcBef>
                <a:spcPts val="800"/>
              </a:spcBef>
              <a:defRPr sz="900">
                <a:solidFill>
                  <a:srgbClr val="F4F4F4"/>
                </a:solidFill>
              </a:defRPr>
            </a:pPr>
            <a:r>
              <a:t>Every rule, its</a:t>
            </a:r>
            <a:br/>
            <a:r>
              <a:t>description, its SPL,</a:t>
            </a:r>
            <a:br/>
            <a:r>
              <a:t>its volume and its</a:t>
            </a:r>
            <a:br/>
            <a:r>
              <a:t>dedup split.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5472" y="2286000"/>
            <a:ext cx="1572768" cy="1920240"/>
          </a:xfrm>
          <a:prstGeom prst="rect">
            <a:avLst/>
          </a:prstGeom>
          <a:solidFill>
            <a:srgbClr val="262626"/>
          </a:solidFill>
          <a:ln w="19050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Customers</a:t>
            </a:r>
          </a:p>
          <a:p>
            <a:pPr algn="ctr">
              <a:spcBef>
                <a:spcPts val="800"/>
              </a:spcBef>
              <a:defRPr sz="900">
                <a:solidFill>
                  <a:srgbClr val="F4F4F4"/>
                </a:solidFill>
              </a:defRPr>
            </a:pPr>
            <a:r>
              <a:t>The transpose: which</a:t>
            </a:r>
            <a:br/>
            <a:r>
              <a:t>rules fired for this</a:t>
            </a:r>
            <a:br/>
            <a:r>
              <a:t>customer, and how</a:t>
            </a:r>
            <a:br/>
            <a:r>
              <a:t>recently.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Every tab is tenant-scoped by row-level security. SOC staff may narrow to one customer; everyone else is pinned to their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DETECTION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Endpoint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Ten endpoints behind the dashboard plugin. Query schemas are strict: an unsupported filter is a 400, not a silently ignored 200.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Returns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Shape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/detection-analytics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Unique rules + total alerts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The two KPI counters, one scan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/rule-volume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Alerts per (rule, customer)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Stacked bar, unpaginated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/cef-field-volume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Alerts per security_domain and severity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Two branches, one query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/alert-titles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Distinct CEF titles, busiest first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Bounded by an explicit limit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/topology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Rule → customer / domain / severity / title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Edge facts, drawn as a graph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/attack-coverage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Rule → technique / tactic / customer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Edge facts, drawn as a matrix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/rules  ·  /rule-detail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Rule catalog and one rule's drill-down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Paginated; searchable on name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/customers  ·  /customer-detail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Customer catalog and one customer's rules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The transpose of rule-detail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/dedup-analytics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Verdicts, severity x verdict, slot hit rate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Reads the engine's own reply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 rule is not just a volume — it is what it is connected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4023360" cy="438912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42BE65"/>
                </a:solidFill>
                <a:latin typeface="Consolas"/>
              </a:defRPr>
            </a:pPr>
            <a:r>
              <a:t>FIRED_FOR              → 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64792"/>
            <a:ext cx="4023360" cy="438912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08BDBA"/>
                </a:solidFill>
                <a:latin typeface="Consolas"/>
              </a:defRPr>
            </a:pPr>
            <a:r>
              <a:t>IN_SECURITY_DOMAIN     → security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95144"/>
            <a:ext cx="4023360" cy="438912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F1C21B"/>
                </a:solidFill>
                <a:latin typeface="Consolas"/>
              </a:defRPr>
            </a:pPr>
            <a:r>
              <a:t>HAS_SEVERITY           → severity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25496"/>
            <a:ext cx="4023360" cy="438912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BE95FF"/>
                </a:solidFill>
                <a:latin typeface="Consolas"/>
              </a:defRPr>
            </a:pPr>
            <a:r>
              <a:t>HAS_DESCRIPTION        → rule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55848"/>
            <a:ext cx="4023360" cy="438912"/>
          </a:xfrm>
          <a:prstGeom prst="rect">
            <a:avLst/>
          </a:prstGeom>
          <a:solidFill>
            <a:srgbClr val="262626"/>
          </a:solidFill>
          <a:ln w="1587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FORWARDED_ALERT        → alert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Six node types, fixed hues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Rule names · Customers · Security domains · Severities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Rule descriptions · Alert titles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type keeps its colour however the graph is filtered,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so a node's identity never depends on the current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43200"/>
            <a:ext cx="4023360" cy="114300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Naming the data honestly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"Alert titles", not "rule titles". The CEF title 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PER NOTABLE — a vendor alert title, not a rule property.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is also why that field sits near 45% coverage while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genuinely rule-level ones are at 100%.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soar_cef is an array of artifacts; a payload without one</a:t>
            </a:r>
          </a:p>
          <a:p>
            <a:pPr algn="l">
              <a:lnSpc>
                <a:spcPct val="130000"/>
              </a:lnSpc>
              <a:defRPr sz="1000" b="0">
                <a:solidFill>
                  <a:srgbClr val="8D8D8D"/>
                </a:solidFill>
              </a:defRPr>
            </a:pPr>
            <a:r>
              <a:t>contributes FIRED_FOR edges only, never CEF edges.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ATT&amp;CK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A coverage map, not a volume chart. A technique is covered or it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Where the mapping comes from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Three CEF fields per artifact, comma-split: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mitre_technique_id · MITRE · mitre_sub_technique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validated as T#### or T####.### before counting.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Tactic IDs (TA####) are kept alongside because they are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version-stable, while tactic SHORTNAMES are not: ATT&amp;CK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v19 deleted defense-evasion and split it in two.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Attribution is RULE-level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 technique belongs to the RULE. Every customer that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rule fired for is covered by it — even if only one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customer's alerts happened to carry the MITRE fields.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Filtering the teaching set instead was the original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shape: of eight sampled customers, five reported ZERO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techniques while their rules cover two to four. One had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fired 23 rules and rendered an empty matrix.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The gap IS the product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empty cell must mean "we do not detect this", never "enrichment did not reach this customer" — so nothing in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rendering may make an uncovered cell look like an artifact. Technique ids the ontology does not know (newly published,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revoked, or vendor-invented) are kept and surfaced, so the matrix can say it is not the whole story rather than dropping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them silently. A customer site narrows which RULES count, never which alerts teach; a site with no customer beside it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is rejected with a 400, because two unrelated tenants may both run a site called "North".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whole matrix exports as an ATT&amp;CK Navigator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Dedup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Is the engine earning its place? Three charts, all read from the engine's own reply.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2606040" cy="2194560"/>
          </a:xfrm>
          <a:prstGeom prst="rect">
            <a:avLst/>
          </a:prstGeom>
          <a:solidFill>
            <a:srgbClr val="262626"/>
          </a:solidFill>
          <a:ln w="2222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>
              <a:defRPr sz="1300" b="1">
                <a:solidFill>
                  <a:srgbClr val="FA4D56"/>
                </a:solidFill>
              </a:defRPr>
            </a:pPr>
            <a:r>
              <a:t>Verdict distribution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DUPLICATE / SIMILAR / NEW</a:t>
            </a:r>
            <a:br/>
            <a:r>
              <a:t>across the window.</a:t>
            </a:r>
            <a:br/>
            <a:br/>
            <a:r>
              <a:t>How much is the engine</a:t>
            </a:r>
            <a:br/>
            <a:r>
              <a:t>actually suppressing?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9544" y="1234440"/>
            <a:ext cx="2606040" cy="2194560"/>
          </a:xfrm>
          <a:prstGeom prst="rect">
            <a:avLst/>
          </a:prstGeom>
          <a:solidFill>
            <a:srgbClr val="262626"/>
          </a:solidFill>
          <a:ln w="2222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>
              <a:defRPr sz="1300" b="1">
                <a:solidFill>
                  <a:srgbClr val="F1C21B"/>
                </a:solidFill>
              </a:defRPr>
            </a:pPr>
            <a:r>
              <a:t>Severity x verdict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The same split, broken</a:t>
            </a:r>
            <a:br/>
            <a:r>
              <a:t>down by severity.</a:t>
            </a:r>
            <a:br/>
            <a:br/>
            <a:r>
              <a:t>Is it suppressing the</a:t>
            </a:r>
            <a:br/>
            <a:r>
              <a:t>noisy end or the urgent</a:t>
            </a:r>
            <a:br/>
            <a:r>
              <a:t>end?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7608" y="1234440"/>
            <a:ext cx="2606040" cy="2194560"/>
          </a:xfrm>
          <a:prstGeom prst="rect">
            <a:avLst/>
          </a:prstGeom>
          <a:solidFill>
            <a:srgbClr val="262626"/>
          </a:solidFill>
          <a:ln w="2222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ctr">
              <a:defRPr sz="1300" b="1">
                <a:solidFill>
                  <a:srgbClr val="33B1FF"/>
                </a:solidFill>
              </a:defRPr>
            </a:pPr>
            <a:r>
              <a:t>Slot match / miss</a:t>
            </a:r>
          </a:p>
          <a:p>
            <a:pPr>
              <a:spcBef>
                <a:spcPts val="800"/>
              </a:spcBef>
              <a:defRPr sz="1000">
                <a:solidFill>
                  <a:srgbClr val="F4F4F4"/>
                </a:solidFill>
              </a:defRPr>
            </a:pPr>
            <a:r>
              <a:t>Per IOC slot, how often</a:t>
            </a:r>
            <a:br/>
            <a:r>
              <a:t>it matched and how often</a:t>
            </a:r>
            <a:br/>
            <a:r>
              <a:t>it missed.</a:t>
            </a:r>
            <a:br/>
            <a:br/>
            <a:r>
              <a:t>Which indicators are</a:t>
            </a:r>
            <a:br/>
            <a:r>
              <a:t>carrying the decisions?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Unscored is counted, not folded into NEW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Alerts in the window carrying no engine verdict — ingested before dedup existed, or skipped, or the engine was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unavailable — are reported as their own number. Folding them into NEW would make a dedup outage read as a quiet week.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Alert STATUS is not used as a proxy: status moves as an alert is worked, while the stored verdict never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Rule Catalog and Customer Drill-Down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The same measures, rotated — "which of these is misbehaving, and how recently"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1C21B"/>
                </a:solidFill>
              </a:defRPr>
            </a:pPr>
            <a:r>
              <a:t>Rule detail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For one rule: the customers it fired for, its volume,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its recency, and its dedup split.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Plus its description and its SPL query — read from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latest payload, with the CEF-blob walk, because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production carries the description inside soar_cef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artifacts where no SQL expression practically reaches.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Customer detail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The transpose: for one customer, the rules that fired,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with the same recency and the same dedup split.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Because the question is the same one rotated — is this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rule noisy for this customer, and has anything changed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recently?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262626"/>
          </a:solidFill>
          <a:ln w="15875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589FF"/>
                </a:solidFill>
              </a:defRPr>
            </a:pPr>
            <a:r>
              <a:t>Two things the queries are careful about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IDENTITY. Everything groups by rule NAME, the same identity the charts use, and search matches the name alone —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matching the description too would desync the table from the charts' client-side filter.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CARDINALITY. Titles are per-notable, so production carries thousands of distinct values. Grouping by title would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multiply every row of the unpaginated endpoints, so the title vocabulary comes from its own bounded endpoint instead.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BE65"/>
                </a:solidFill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What is running  ·  What is still open  · 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Is Running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4D56"/>
                </a:solidFill>
              </a:defRPr>
            </a:pPr>
            <a:r>
              <a:t>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8001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F4F4F4"/>
                </a:solidFill>
              </a:defRPr>
            </a:pPr>
            <a:r>
              <a:t>Two-layer engine in ml-service, tenant-namespaced Redis, per-customer thresholds from PolicyForge, flat-star canonical clusters, four audit event types, fail-open with a circuit breaker.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38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E95FF"/>
                </a:solidFill>
              </a:defRPr>
            </a:pPr>
            <a:r>
              <a:t>Entity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31136"/>
            <a:ext cx="8001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F4F4F4"/>
                </a:solidFill>
              </a:defRPr>
            </a:pPr>
            <a:r>
              <a:t>A fine-tuned SecureBERT2.0 token classifier over nine entity types, queued at concurrency one, with a measured display threshold, operator exclusion rules, and results frozen at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12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21B"/>
                </a:solidFill>
              </a:defRPr>
            </a:pPr>
            <a:r>
              <a:t>Fingerprinting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8001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F4F4F4"/>
                </a:solidFill>
              </a:defRPr>
            </a:pPr>
            <a:r>
              <a:t>Per-slot IOC hashes for dedup, an entity fingerprint for the auto-close recommendation, and Layer-0 slot and pattern hashes for the disposition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3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B1FF"/>
                </a:solidFill>
              </a:defRPr>
            </a:pPr>
            <a:r>
              <a:t>Detection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96512"/>
            <a:ext cx="8001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F4F4F4"/>
                </a:solidFill>
              </a:defRPr>
            </a:pPr>
            <a:r>
              <a:t>Ten endpoints behind five tabs: volume, topology, ATT&amp;CK coverage with Navigator export, rule and customer drill-downs, and the dedup performance charts.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What Is Still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1C21B"/>
                </a:solidFill>
              </a:defRPr>
            </a:pPr>
            <a:r>
              <a:t>Precision of the entity threshold is unmeasured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16152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F4F4F4"/>
                </a:solidFill>
              </a:defRPr>
            </a:pPr>
            <a:r>
              <a:t>The distribution run recorded score and label only, never a value. We know how much a cut withholds; we do not know whether it withholds the right things. Labelled values are the missing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1C21B"/>
                </a:solidFill>
              </a:defRPr>
            </a:pPr>
            <a:r>
              <a:t>The fingerprint cross-check is comparison, not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75104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F4F4F4"/>
                </a:solidFill>
              </a:defRPr>
            </a:pPr>
            <a:r>
              <a:t>Agreement drives the SOAR recommendation. It does not yet feed back into the dedup verdict itself, so a disagreement is visible but not acted on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02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4589FF"/>
                </a:solidFill>
              </a:defRPr>
            </a:pPr>
            <a:r>
              <a:t>Canonical divergence is reported, not resolved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34056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F4F4F4"/>
                </a:solidFill>
              </a:defRPr>
            </a:pPr>
            <a:r>
              <a:t>'disagree' between the engine's canonical and Apollo's is surfaced for a person. Nothing reconciles the two stores.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4589FF"/>
                </a:solidFill>
              </a:defRPr>
            </a:pPr>
            <a:r>
              <a:t>Window boundaries are hard edges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93008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F4F4F4"/>
                </a:solidFill>
              </a:defRPr>
            </a:pPr>
            <a:r>
              <a:t>Fixed buckets make the lookup one set operation. The cost is that two alerts minutes apart across a boundary are in different buckets and cannot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59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BE95FF"/>
                </a:solidFill>
              </a:defRPr>
            </a:pPr>
            <a:r>
              <a:t>No semantic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800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F4F4F4"/>
                </a:solidFill>
              </a:defRPr>
            </a:pPr>
            <a:r>
              <a:t>Two vendors describing one attack in different words are invisible to both hashing and character-level fuzzy matching.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What Comes Next — Layer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Each layer catches what the layers before it structurally cannot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catches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1 — Hash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Per-slot SHA-256 + inverted index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Exact duplicates: same rule, same indicators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2 — Fuzzy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Token Sort Ratio over IOC values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Cross-rule: different rule, similar indicators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3 — Semantic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Cosine similarity over embeddings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Slower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F4F4"/>
                          </a:solidFill>
                        </a:defRPr>
                      </a:pPr>
                      <a:r>
                        <a:t>Same meaning, different words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When Layer 3 Becomes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8D8D"/>
                </a:solidFill>
              </a:defRPr>
            </a:pPr>
            <a:r>
              <a:t>Not now — and the reason it is not now is worth being explicit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Why it can wait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Today's data is structured. Indicators arrive in typed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fields, not free text, and Layers 1 and 2 handle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structured data well.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Entity extraction has also already absorbed part of the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problem: it reads text without field names.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262626"/>
          </a:solidFill>
          <a:ln w="15875">
            <a:solidFill>
              <a:srgbClr val="F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FA4D56"/>
                </a:solidFill>
              </a:defRPr>
            </a:pPr>
            <a:r>
              <a:t>What would change that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Multi-vendor ingestion at scale — CrowdStrike and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Sentinel and Defender describing one attack in three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vocabularies.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At that point the alert DESCRIPTION becomes a dedup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signal, and no amount of character overlap reaches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71800"/>
            <a:ext cx="8229600" cy="1508760"/>
          </a:xfrm>
          <a:prstGeom prst="rect">
            <a:avLst/>
          </a:prstGeom>
          <a:solidFill>
            <a:srgbClr val="262626"/>
          </a:solidFill>
          <a:ln w="15875">
            <a:solidFill>
              <a:srgbClr val="BE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BE95FF"/>
                </a:solidFill>
              </a:defRPr>
            </a:pPr>
            <a:r>
              <a:t>What it would need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An embedding model — a general sentence encoder, or a security-specific one; the NER checkpoint's encoder is a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candidate starting point.  ·  A vector store: Redis vector search is already in the stack.  ·  An inference budget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that fits the path it runs on — which, on the evidence of the NER rollout, means measuring the tail before choosing it.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It belongs in ml-service beside the two engines that are already there, not in Apollo.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589FF"/>
                </a:solidFill>
              </a:defRPr>
            </a:pPr>
            <a:r>
              <a:t>Backup slides follow: score arithmetic, key reference, wire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8D8D"/>
                </a:solidFill>
              </a:defRPr>
            </a:pPr>
            <a:r>
              <a:t>Cosmos Platform Engineering  |  CIP SP-015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D8D8D"/>
                </a:solidFill>
              </a:defRPr>
            </a:pPr>
            <a: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8D8D8D"/>
                </a:solidFill>
              </a:defRPr>
            </a:pPr>
            <a:r>
              <a:t>Score arithmetic, worked  ·  Redis key reference  ·  Wire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Score 1 — Hash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4F4"/>
                </a:solidFill>
              </a:defRPr>
            </a:pPr>
            <a:r>
              <a:t>confidence = matched_ioc_slots / total_filled_ioc_slots</a:t>
            </a:r>
          </a:p>
          <a:p>
            <a:pPr>
              <a:spcAft>
                <a:spcPts val="800"/>
              </a:spcAft>
              <a:defRPr sz="1200">
                <a:solidFill>
                  <a:srgbClr val="F4F4F4"/>
                </a:solidFill>
              </a:defRPr>
            </a:pPr>
            <a:r>
              <a:t>Only the six IOC slots count. Prerequisites are a gate, not a score — they filter candidates before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Hash Confidence — Every Possible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41832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Matched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slots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All six IOC types identical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Five match, one differs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Four match, two differ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Half match — below the 0.80 default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Two IOC types match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One IOC type matches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No match — falls through to Layer 2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The alert carries three types and all three match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Three types carried, one matches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Score 2 — Fuzzy Score (Layer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Method: Token Sort Ratio (rapidfuzz)</a:t>
            </a:r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   1. Tokenize both strings      'jdoe@lsu.edu' → ['edu', 'jdoe', 'lsu']</a:t>
            </a:r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   2. Sort tokens alphabetically</a:t>
            </a:r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   3. Compute the character-level match ratio, 0–100</a:t>
            </a:r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Per type: each incoming value takes its BEST match among the stored values; the type score is the mean of those bests.</a:t>
            </a:r>
          </a:p>
          <a:p>
            <a:pPr>
              <a:spcAft>
                <a:spcPts val="600"/>
              </a:spcAft>
              <a:defRPr sz="1100">
                <a:solidFill>
                  <a:srgbClr val="F4F4F4"/>
                </a:solidFill>
              </a:defRPr>
            </a:pPr>
            <a:r>
              <a:t>Overall: the mean across every IOC type present in either alert. A type on one side only scores 0 and still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21B"/>
                </a:solidFill>
              </a:defRPr>
            </a:pPr>
            <a:r>
              <a:t>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ip     '6.244.192.143'        vs  '6.244.192.143'      →  100.0   identical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user   'myekrangian'          vs  'jreaga3'            →   44.4   little overlap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email  'myekrangian@lsu.edu'  vs  'jreaga3@lsu.edu'    →   65.0   shared @lsu.edu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overall = (100.0 + 44.4 + 65.0) / 3 = 69.8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Score 3 — STIX Context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4F4F4"/>
                </a:solidFill>
              </a:defRPr>
            </a:pPr>
            <a:r>
              <a:t>Uses the stix2 library's object_similarity() — a weighted per-property comparison, per STIX object type.</a:t>
            </a:r>
          </a:p>
          <a:p>
            <a:pPr>
              <a:spcAft>
                <a:spcPts val="700"/>
              </a:spcAft>
              <a:defRPr sz="1100">
                <a:solidFill>
                  <a:srgbClr val="F4F4F4"/>
                </a:solidFill>
              </a:defRPr>
            </a:pPr>
            <a:r>
              <a:t>Compares threat CONTEXT, not indicator values: same rule? same organisation? same techniques?</a:t>
            </a:r>
          </a:p>
          <a:p>
            <a:pPr>
              <a:spcAft>
                <a:spcPts val="700"/>
              </a:spcAft>
              <a:defRPr sz="1100">
                <a:solidFill>
                  <a:srgbClr val="F4F4F4"/>
                </a:solidFill>
              </a:defRPr>
            </a:pPr>
            <a:r>
              <a:t>Best-match per object, averaged across every matched pair. Objects compared: indicator, identity, attack-pattern.</a:t>
            </a:r>
          </a:p>
          <a:p>
            <a:pPr>
              <a:spcAft>
                <a:spcPts val="700"/>
              </a:spcAft>
              <a:defRPr sz="1100">
                <a:solidFill>
                  <a:srgbClr val="F4F4F4"/>
                </a:solidFill>
              </a:defRPr>
            </a:pPr>
            <a:r>
              <a:t>Scored against the cluster ORIGIN's bundle, not the intermediate the alert happened to match — and when a</a:t>
            </a:r>
          </a:p>
          <a:p>
            <a:pPr>
              <a:spcAft>
                <a:spcPts val="700"/>
              </a:spcAft>
              <a:defRPr sz="1100">
                <a:solidFill>
                  <a:srgbClr val="F4F4F4"/>
                </a:solidFill>
              </a:defRPr>
            </a:pPr>
            <a:r>
              <a:t>substitution happens, the response records it, so scores can never describe one alert while naming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STIX Context — Property Weights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41832"/>
          <a:ext cx="82296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Object type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STIX pattern match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indicator_types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List intersection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valid_from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Timestamp proximity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Fuzzy string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identity_class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sectors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List intersection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attack-pattern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Fuzzy string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attack-pattern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external_references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Reference comparison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Scores 4 and 5 — Observable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08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08BDBA"/>
                </a:solidFill>
              </a:defRPr>
            </a:pPr>
            <a:r>
              <a:t>By type — Jaccard per type, averaged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For each IOC type present in either alert: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score = |intersection| / |union| x 100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Overall = the mean across types.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Every type weighs the same, whatever it 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97280"/>
            <a:ext cx="4023360" cy="1371600"/>
          </a:xfrm>
          <a:prstGeom prst="rect">
            <a:avLst/>
          </a:prstGeom>
          <a:solidFill>
            <a:srgbClr val="262626"/>
          </a:solidFill>
          <a:ln w="15875">
            <a:solidFill>
              <a:srgbClr val="33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33B1FF"/>
                </a:solidFill>
              </a:defRPr>
            </a:pPr>
            <a:r>
              <a:t>By value — Jaccard over the pool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All values across all types in ONE set: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   score = matched_values / union_values x 100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True data overlap: a type holding ten addresses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counts for more than a type holding one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B1FF"/>
                </a:solidFill>
              </a:defRPr>
            </a:pPr>
            <a:r>
              <a:t>Worked example — same URL, different account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url    incoming {portal.acme.com/login}   stored {portal.acme.com/login}   → 1/1 = 100%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user   incoming {jdoe@acme.com}           stored {abirds8@acme.com}        → 0/2 =   0%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email  incoming {jdoe@acme.com}           stored {abirds8@acme.com}        → 0/2 =   0%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by type   (100 + 0 + 0) / 3          = 33.3%     each type weighs equally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by value  1 matched / 5 union values = 20.0%     the URL is one value out of five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Reading the Scores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D8D8D"/>
                </a:solidFill>
              </a:defRPr>
            </a:pPr>
            <a:r>
              <a:t>Hash and Obs/type should correlate — both measure per-type overlap. Context is independent of indicators entirely.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7592"/>
          <a:ext cx="82296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Hash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Obs/type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Obs/value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 marL="54864" marT="18288" marB="18288">
                    <a:solidFill>
                      <a:srgbClr val="0043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Exact duplicate — every signal agrees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Same rule and threat, different target account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Cross-rule, identical indicators — Layer 2 SIMILAR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Cross-rule, partial indicator overlap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Different rule, different indicators, shared techniques</a:t>
                      </a:r>
                    </a:p>
                  </a:txBody>
                  <a:tcPr marL="54864" marT="18288" marB="18288"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F4F4"/>
                          </a:solidFill>
                        </a:defRPr>
                      </a:pPr>
                      <a:r>
                        <a:t>Same indicators, different techniques — unusual, worth a look</a:t>
                      </a:r>
                    </a:p>
                  </a:txBody>
                  <a:tcPr marL="54864" marT="18288" marB="18288"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Redis Key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dedup:{customer_id}:l1:idx:{slot}:{hash}     SET of alert ids carrying that slot hash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dedup:{customer_id}:l1:idx:alert_name:{h}    SET — prerequisite, SINTER'd with time_bucket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dedup:{customer_id}:l1:idx:time_bucket:{h}   SET — also the Layer 2 candidate pool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dedup:{customer_id}:l1:{alert_id}            hashes + timestamp + canonical id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dedup:{customer_id}:l1:bundle:{alert_id}     STIX bundle + parsed IOCs + alert_name + ts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dedup:{customer_id}:result:{alert_id}        the verdict as returned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Every key carries the window TTL (2880 min). Index writes are pipelined.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Per-customer flush escapes the id before it reaches SCAN, so a glob in a</a:t>
            </a:r>
          </a:p>
          <a:p>
            <a:pPr>
              <a:defRPr sz="1000">
                <a:solidFill>
                  <a:srgbClr val="33B1FF"/>
                </a:solidFill>
                <a:latin typeface="Consolas"/>
              </a:defRPr>
            </a:pPr>
            <a:r>
              <a:t>customer id can never widen the pattern into another tenant's namespace.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262626"/>
          </a:solidFill>
          <a:ln w="15875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rtlCol="0" anchor="ctr"/>
          <a:lstStyle/>
          <a:p>
            <a:pPr algn="ctr">
              <a:defRPr sz="1200" b="1">
                <a:solidFill>
                  <a:srgbClr val="42BE65"/>
                </a:solidFill>
              </a:defRPr>
            </a:pPr>
            <a:r>
              <a:t>Lookup cost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Prerequisites: one SINTER.  IOC candidates: one pipelined SMEMBERS per filled slot, then a count per candidate id.</a:t>
            </a:r>
          </a:p>
          <a:p>
            <a:pPr>
              <a:spcBef>
                <a:spcPts val="300"/>
              </a:spcBef>
              <a:defRPr sz="1000">
                <a:solidFill>
                  <a:srgbClr val="F4F4F4"/>
                </a:solidFill>
              </a:defRPr>
            </a:pPr>
            <a:r>
              <a:t>Only candidates already at or above the threshold are fetched in full and compared slot by slot.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Wire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4114800" cy="32918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950">
                <a:solidFill>
                  <a:srgbClr val="33B1FF"/>
                </a:solidFill>
                <a:latin typeface="Consolas"/>
              </a:defRPr>
            </a:pPr>
            <a:r>
              <a:t>POST /api/v1/dedup/alerts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{ stix_bundle, source, severity,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customer_id, alert_id, created_at }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→ { alert_id, verdict, layer,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hash_confidence,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stix_context_similarity,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stix_observable_by_type,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stix_observable_by_value,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matched_alert_id,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canonical_alert_id,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score_breakdown,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stix_context_details[],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stix_observable_details[],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iocs, filled_slots,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matched_slots, missed_slots,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applied_thresholds,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threshold_source 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051560"/>
            <a:ext cx="4114800" cy="32918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950">
                <a:solidFill>
                  <a:srgbClr val="BE95FF"/>
                </a:solidFill>
                <a:latin typeface="Consolas"/>
              </a:defRPr>
            </a:pPr>
            <a:r>
              <a:t>POST /api/v1/ner/extract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{ text }                  # &lt;= 100k chars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endParaRPr/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→ { advisory: true,         # never a command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model_name, text,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rendered_from_json,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windows,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entities[]  { start, end, label,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              value, score },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by_type     { LABEL: [{ value,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              score, count }] },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entity_count, latency_ms }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endParaRPr/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GET /api/v1/ner/status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→ { ready, model_name, n_labels,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entity_types[], max_len,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window_chars, overlap_chars,</a:t>
            </a:r>
          </a:p>
          <a:p>
            <a:pPr>
              <a:defRPr sz="950">
                <a:solidFill>
                  <a:srgbClr val="BE95FF"/>
                </a:solidFill>
                <a:latin typeface="Consolas"/>
              </a:defRPr>
            </a:pPr>
            <a:r>
              <a:t>    manifest_version 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589FF"/>
                </a:solidFill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Configuration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329184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82296" rtlCol="0" anchor="ctr"/>
          <a:lstStyle/>
          <a:p>
            <a:pPr algn="ctr">
              <a:defRPr sz="950">
                <a:solidFill>
                  <a:srgbClr val="33B1FF"/>
                </a:solidFill>
                <a:latin typeface="Consolas"/>
              </a:defRPr>
            </a:pPr>
            <a:r>
              <a:t># dedup_defaults.yaml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redis:   { key_prefix: dedup, ttl_minutes: 2880 }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stix:    { extension_key: extension-definition--a85759ca-...,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hash_algorithms: [SHA-256, SHA-1, MD5],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notable_field_mappings: { ip: 11 aliases, user: 9, email: 5,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                domain: 6, url: 2, file_hash: 2 },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ioc_field_map: { ips: ip, domains: domain, urls: url,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       file_hashes: file_hash, emails: email,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       usernames: user } }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dedup:   { window_minutes: 2880,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layer1: { slots: [ip, user, email, domain, url, file_hash,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         alert_name, time_bucket],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confidence_threshold: 0.80,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          stix_equivalence: { enabled: true, threshold: 80 } },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           layer2: { similarity_threshold: 80 } }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endParaRPr/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# NER engine        NER_TIMEOUT_MS 45000   window 3000 / overlap 300 / max_len 1024</a:t>
            </a:r>
          </a:p>
          <a:p>
            <a:pPr>
              <a:defRPr sz="950">
                <a:solidFill>
                  <a:srgbClr val="33B1FF"/>
                </a:solidFill>
                <a:latin typeface="Consolas"/>
              </a:defRPr>
            </a:pPr>
            <a:r>
              <a:t># Entity threshold  default 0.90, adjustable in Settings &gt; 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10206</Words>
  <Application>Microsoft Macintosh PowerPoint</Application>
  <PresentationFormat>On-screen Show (16:9)</PresentationFormat>
  <Paragraphs>1267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 Yekrangian</cp:lastModifiedBy>
  <cp:revision>3</cp:revision>
  <dcterms:created xsi:type="dcterms:W3CDTF">2013-01-27T09:14:16Z</dcterms:created>
  <dcterms:modified xsi:type="dcterms:W3CDTF">2026-09-11T20:59:29Z</dcterms:modified>
  <cp:category/>
</cp:coreProperties>
</file>